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232D"/>
          </a:solidFill>
          <a:ln>
            <a:solidFill>
              <a:srgbClr val="BE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46120" y="1005840"/>
            <a:ext cx="82296" cy="3657600"/>
          </a:xfrm>
          <a:prstGeom prst="rect">
            <a:avLst/>
          </a:prstGeom>
          <a:solidFill>
            <a:srgbClr val="E6414B"/>
          </a:solidFill>
          <a:ln>
            <a:solidFill>
              <a:srgbClr val="E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01568" y="1664208"/>
            <a:ext cx="82296" cy="3246120"/>
          </a:xfrm>
          <a:prstGeom prst="rect">
            <a:avLst/>
          </a:prstGeom>
          <a:solidFill>
            <a:srgbClr val="E6414B"/>
          </a:solidFill>
          <a:ln>
            <a:solidFill>
              <a:srgbClr val="E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57015" y="2322576"/>
            <a:ext cx="82296" cy="2834640"/>
          </a:xfrm>
          <a:prstGeom prst="rect">
            <a:avLst/>
          </a:prstGeom>
          <a:solidFill>
            <a:srgbClr val="E6414B"/>
          </a:solidFill>
          <a:ln>
            <a:solidFill>
              <a:srgbClr val="E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12463" y="2980944"/>
            <a:ext cx="82296" cy="2423160"/>
          </a:xfrm>
          <a:prstGeom prst="rect">
            <a:avLst/>
          </a:prstGeom>
          <a:solidFill>
            <a:srgbClr val="E6414B"/>
          </a:solidFill>
          <a:ln>
            <a:solidFill>
              <a:srgbClr val="E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67911" y="3639312"/>
            <a:ext cx="82296" cy="2011680"/>
          </a:xfrm>
          <a:prstGeom prst="rect">
            <a:avLst/>
          </a:prstGeom>
          <a:solidFill>
            <a:srgbClr val="E6414B"/>
          </a:solidFill>
          <a:ln>
            <a:solidFill>
              <a:srgbClr val="E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SPICE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38528"/>
            <a:ext cx="27889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SAP Program Inspection
and Code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38328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1EBF5"/>
                </a:solidFill>
                <a:latin typeface="Aptos"/>
              </a:rPr>
              <a:t>A focused workspace for faster,
clearer SAP code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72000"/>
            <a:ext cx="2331720" cy="420624"/>
          </a:xfrm>
          <a:prstGeom prst="roundRect">
            <a:avLst>
              <a:gd name="adj" fmla="val 8000"/>
            </a:avLst>
          </a:prstGeom>
          <a:solidFill>
            <a:srgbClr val="BE232D"/>
          </a:solidFill>
          <a:ln>
            <a:solidFill>
              <a:srgbClr val="BE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21031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McCORMICK • AI ENABLED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417320"/>
            <a:ext cx="6583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From SAP Transport Request →
ATC findings → AI-assisted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743200"/>
            <a:ext cx="5943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D3746"/>
                </a:solidFill>
                <a:latin typeface="Aptos"/>
              </a:rPr>
              <a:t>Designed to reduce review effort without requiring reviewers to repeatedly log into SAP.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977639"/>
            <a:ext cx="13258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096512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4A7D"/>
                </a:solidFill>
                <a:latin typeface="Aptos"/>
              </a:rPr>
              <a:t>TR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4389120"/>
            <a:ext cx="338328" cy="0"/>
          </a:xfrm>
          <a:prstGeom prst="line">
            <a:avLst/>
          </a:prstGeom>
          <a:ln w="25400">
            <a:solidFill>
              <a:srgbClr val="18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46520" y="3977639"/>
            <a:ext cx="13258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096512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A6FA6"/>
                </a:solidFill>
                <a:latin typeface="Aptos"/>
              </a:rPr>
              <a:t>SOURCE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4389120"/>
            <a:ext cx="338328" cy="0"/>
          </a:xfrm>
          <a:prstGeom prst="line">
            <a:avLst/>
          </a:prstGeom>
          <a:ln w="25400">
            <a:solidFill>
              <a:srgbClr val="18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38160" y="3977639"/>
            <a:ext cx="13258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4096512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E232D"/>
                </a:solidFill>
                <a:latin typeface="Aptos"/>
              </a:rPr>
              <a:t>ATC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64040" y="4389120"/>
            <a:ext cx="338328" cy="0"/>
          </a:xfrm>
          <a:prstGeom prst="line">
            <a:avLst/>
          </a:prstGeom>
          <a:ln w="25400">
            <a:solidFill>
              <a:srgbClr val="18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3977639"/>
            <a:ext cx="13258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4096512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875B"/>
                </a:solidFill>
                <a:latin typeface="Aptos"/>
              </a:rPr>
              <a:t>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806440"/>
            <a:ext cx="5760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84A7D"/>
                </a:solidFill>
                <a:latin typeface="Aptos"/>
              </a:rPr>
              <a:t>Presentation for McCormick SAP / AI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E232D"/>
                </a:solidFill>
                <a:latin typeface="Aptos"/>
              </a:rPr>
              <a:t>WHY SPICE?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Turn a repetitive SAP review task into one focused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184A7D"/>
                </a:solidFill>
                <a:latin typeface="Aptos"/>
              </a:rPr>
              <a:t>02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84A7D"/>
                </a:solidFill>
                <a:latin typeface="Aptos"/>
              </a:rPr>
              <a:t>SPICE  •  SAP Program Inspection and Code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530352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64008" cy="2880360"/>
          </a:xfrm>
          <a:prstGeom prst="rect">
            <a:avLst/>
          </a:prstGeom>
          <a:solidFill>
            <a:srgbClr val="BE232D"/>
          </a:solidFill>
          <a:ln>
            <a:solidFill>
              <a:srgbClr val="BE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55063"/>
            <a:ext cx="4892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Today’s friction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093976"/>
            <a:ext cx="438912" cy="438912"/>
          </a:xfrm>
          <a:prstGeom prst="ellipse">
            <a:avLst/>
          </a:prstGeom>
          <a:solidFill>
            <a:srgbClr val="BE232D"/>
          </a:solidFill>
          <a:ln>
            <a:solidFill>
              <a:srgbClr val="BE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75688"/>
            <a:ext cx="4343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D3746"/>
                </a:solidFill>
                <a:latin typeface="Aptos"/>
              </a:rPr>
              <a:t>Reviewers repeatedly switch between SAP screens, transactions and objects.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596896"/>
            <a:ext cx="438912" cy="438912"/>
          </a:xfrm>
          <a:prstGeom prst="ellipse">
            <a:avLst/>
          </a:prstGeom>
          <a:solidFill>
            <a:srgbClr val="BE232D"/>
          </a:solidFill>
          <a:ln>
            <a:solidFill>
              <a:srgbClr val="BE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06040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78608"/>
            <a:ext cx="4343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D3746"/>
                </a:solidFill>
                <a:latin typeface="Aptos"/>
              </a:rPr>
              <a:t>Source code, ATC findings and review comments are spread across different views.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099816"/>
            <a:ext cx="438912" cy="438912"/>
          </a:xfrm>
          <a:prstGeom prst="ellipse">
            <a:avLst/>
          </a:prstGeom>
          <a:solidFill>
            <a:srgbClr val="BE232D"/>
          </a:solidFill>
          <a:ln>
            <a:solidFill>
              <a:srgbClr val="BE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108960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81528"/>
            <a:ext cx="4343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D3746"/>
                </a:solidFill>
                <a:latin typeface="Aptos"/>
              </a:rPr>
              <a:t>Context switching slows review and makes it harder to compare findings with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508760"/>
            <a:ext cx="530352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508760"/>
            <a:ext cx="64008" cy="2880360"/>
          </a:xfrm>
          <a:prstGeom prst="rect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655063"/>
            <a:ext cx="4892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What SPICE changes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2093976"/>
            <a:ext cx="438912" cy="438912"/>
          </a:xfrm>
          <a:prstGeom prst="ellipse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103120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2075688"/>
            <a:ext cx="4343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D3746"/>
                </a:solidFill>
                <a:latin typeface="Aptos"/>
              </a:rPr>
              <a:t>Enter a Transport Request once and bring the relevant review context together.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2596896"/>
            <a:ext cx="438912" cy="438912"/>
          </a:xfrm>
          <a:prstGeom prst="ellipse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606040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2578608"/>
            <a:ext cx="4343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D3746"/>
                </a:solidFill>
                <a:latin typeface="Aptos"/>
              </a:rPr>
              <a:t>Show source, ATC results and AI review in the same application.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3099816"/>
            <a:ext cx="438912" cy="438912"/>
          </a:xfrm>
          <a:prstGeom prst="ellipse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108960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3081528"/>
            <a:ext cx="4343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D3746"/>
                </a:solidFill>
                <a:latin typeface="Aptos"/>
              </a:rPr>
              <a:t>Keep the reviewer in a purpose-built UI rather than forcing repeated SAP navigation.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70916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91947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6414B"/>
                </a:solidFill>
                <a:latin typeface="Aptos"/>
              </a:rPr>
              <a:t>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846320"/>
            <a:ext cx="9052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Less navigation  •  Faster triage  •  Better visibility  •  More consistent 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89788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D3746"/>
                </a:solidFill>
                <a:latin typeface="Aptos"/>
              </a:rPr>
              <a:t>SPICE is not replacing SAP — it is creating a review layer around SAP development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E232D"/>
                </a:solidFill>
                <a:latin typeface="Aptos"/>
              </a:rPr>
              <a:t>WHY AN APP +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MCP is a channel; SPICE is the reviewer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184A7D"/>
                </a:solidFill>
                <a:latin typeface="Aptos"/>
              </a:rPr>
              <a:t>03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84A7D"/>
                </a:solidFill>
                <a:latin typeface="Aptos"/>
              </a:rPr>
              <a:t>SPICE  •  SAP Program Inspection and Code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0749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4A7D"/>
                </a:solidFill>
                <a:latin typeface="Aptos"/>
              </a:rPr>
              <a:t>SPICE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42337"/>
                </a:solidFill>
                <a:latin typeface="Aptos"/>
              </a:rPr>
              <a:t>Interactive review workspace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606040"/>
            <a:ext cx="438912" cy="438912"/>
          </a:xfrm>
          <a:prstGeom prst="ellipse">
            <a:avLst/>
          </a:prstGeom>
          <a:solidFill>
            <a:srgbClr val="BE232D"/>
          </a:solidFill>
          <a:ln>
            <a:solidFill>
              <a:srgbClr val="BE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15184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96896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D3746"/>
                </a:solidFill>
                <a:latin typeface="Aptos"/>
              </a:rPr>
              <a:t>Transport overview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64408"/>
            <a:ext cx="438912" cy="438912"/>
          </a:xfrm>
          <a:prstGeom prst="ellipse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73552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55264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D3746"/>
                </a:solidFill>
                <a:latin typeface="Aptos"/>
              </a:rPr>
              <a:t>Object-by-object navigation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22776"/>
            <a:ext cx="438912" cy="438912"/>
          </a:xfrm>
          <a:prstGeom prst="ellipse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13632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D3746"/>
                </a:solidFill>
                <a:latin typeface="Aptos"/>
              </a:rPr>
              <a:t>Source + ATC + AI tabs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581144"/>
            <a:ext cx="438912" cy="438912"/>
          </a:xfrm>
          <a:prstGeom prst="ellipse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90288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7200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D3746"/>
                </a:solidFill>
                <a:latin typeface="Aptos"/>
              </a:rPr>
              <a:t>Status and review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1417320"/>
            <a:ext cx="55778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67335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E232D"/>
                </a:solidFill>
                <a:latin typeface="Aptos"/>
              </a:rPr>
              <a:t>MCP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02996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42337"/>
                </a:solidFill>
                <a:latin typeface="Aptos"/>
              </a:rPr>
              <a:t>Expose SPICE capabilities as tools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606040"/>
            <a:ext cx="713232" cy="347472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633472"/>
            <a:ext cx="713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84A7D"/>
                </a:solidFill>
                <a:latin typeface="Aptos"/>
              </a:rPr>
              <a:t>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96896"/>
            <a:ext cx="3794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D3746"/>
                </a:solidFill>
                <a:latin typeface="Aptos"/>
              </a:rPr>
              <a:t>Fetch transport objects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264408"/>
            <a:ext cx="713232" cy="347472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291840"/>
            <a:ext cx="713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84A7D"/>
                </a:solidFill>
                <a:latin typeface="Aptos"/>
              </a:rPr>
              <a:t>TOOL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255264"/>
            <a:ext cx="3794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D3746"/>
                </a:solidFill>
                <a:latin typeface="Aptos"/>
              </a:rPr>
              <a:t>Retrieve source / ATC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922776"/>
            <a:ext cx="713232" cy="347472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950208"/>
            <a:ext cx="713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84A7D"/>
                </a:solidFill>
                <a:latin typeface="Aptos"/>
              </a:rPr>
              <a:t>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913632"/>
            <a:ext cx="3794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D3746"/>
                </a:solidFill>
                <a:latin typeface="Aptos"/>
              </a:rPr>
              <a:t>Request AI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581144"/>
            <a:ext cx="713232" cy="347472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608576"/>
            <a:ext cx="713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84A7D"/>
                </a:solidFill>
                <a:latin typeface="Aptos"/>
              </a:rPr>
              <a:t>TOOL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572000"/>
            <a:ext cx="3794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D3746"/>
                </a:solidFill>
                <a:latin typeface="Aptos"/>
              </a:rPr>
              <a:t>Integrate with MCP-enabled clients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40680" y="2788920"/>
            <a:ext cx="658368" cy="1325880"/>
          </a:xfrm>
          <a:prstGeom prst="roundRect">
            <a:avLst>
              <a:gd name="adj" fmla="val 8000"/>
            </a:avLst>
          </a:prstGeom>
          <a:solidFill>
            <a:srgbClr val="EBF0F6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3127248"/>
            <a:ext cx="6583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BE232D"/>
                </a:solidFill>
                <a:latin typeface="Aptos"/>
              </a:rPr>
              <a:t>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6108192"/>
            <a:ext cx="4846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4A7D"/>
                </a:solidFill>
                <a:latin typeface="Aptos"/>
              </a:rPr>
              <a:t>The app remains the primary UX;
MCP makes its capabilities reusable.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E232D"/>
                </a:solidFill>
                <a:latin typeface="Aptos"/>
              </a:rPr>
              <a:t>CURRENT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End-to-end SPICE review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184A7D"/>
                </a:solidFill>
                <a:latin typeface="Aptos"/>
              </a:rPr>
              <a:t>04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84A7D"/>
                </a:solidFill>
                <a:latin typeface="Aptos"/>
              </a:rPr>
              <a:t>SPICE  •  SAP Program Inspection and Code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57276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" y="1847088"/>
            <a:ext cx="438912" cy="438912"/>
          </a:xfrm>
          <a:prstGeom prst="ellipse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856231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13898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42337"/>
                </a:solidFill>
                <a:latin typeface="Aptos"/>
              </a:rPr>
              <a:t>Transport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52928"/>
            <a:ext cx="138988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D3746"/>
                </a:solidFill>
                <a:latin typeface="Aptos"/>
              </a:rPr>
              <a:t>User enters TR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75688" y="2990088"/>
            <a:ext cx="329184" cy="0"/>
          </a:xfrm>
          <a:prstGeom prst="line">
            <a:avLst/>
          </a:prstGeom>
          <a:ln w="25400">
            <a:solidFill>
              <a:srgbClr val="18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41448" y="2148840"/>
            <a:ext cx="157276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08376" y="1847088"/>
            <a:ext cx="438912" cy="438912"/>
          </a:xfrm>
          <a:prstGeom prst="ellipse">
            <a:avLst/>
          </a:prstGeom>
          <a:solidFill>
            <a:srgbClr val="2A6FA6"/>
          </a:solidFill>
          <a:ln>
            <a:solidFill>
              <a:srgbClr val="2A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1856231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2423160"/>
            <a:ext cx="13898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42337"/>
                </a:solidFill>
                <a:latin typeface="Aptos"/>
              </a:rPr>
              <a:t>ADT / SAP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2852928"/>
            <a:ext cx="138988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D3746"/>
                </a:solidFill>
                <a:latin typeface="Aptos"/>
              </a:rPr>
              <a:t>Discover objects
&amp; metadata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14215" y="2990088"/>
            <a:ext cx="329185" cy="0"/>
          </a:xfrm>
          <a:prstGeom prst="line">
            <a:avLst/>
          </a:prstGeom>
          <a:ln w="25400">
            <a:solidFill>
              <a:srgbClr val="18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9976" y="2148840"/>
            <a:ext cx="157276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46904" y="1847088"/>
            <a:ext cx="438912" cy="438912"/>
          </a:xfrm>
          <a:prstGeom prst="ellipse">
            <a:avLst/>
          </a:prstGeom>
          <a:solidFill>
            <a:srgbClr val="BE232D"/>
          </a:solidFill>
          <a:ln>
            <a:solidFill>
              <a:srgbClr val="BE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46904" y="1856231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423160"/>
            <a:ext cx="13898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42337"/>
                </a:solidFill>
                <a:latin typeface="Aptos"/>
              </a:rPr>
              <a:t>Source Fetch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2852928"/>
            <a:ext cx="138988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D3746"/>
                </a:solidFill>
                <a:latin typeface="Aptos"/>
              </a:rPr>
              <a:t>Retrieve ABAP /
CDS / definitions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52744" y="2990088"/>
            <a:ext cx="329184" cy="0"/>
          </a:xfrm>
          <a:prstGeom prst="line">
            <a:avLst/>
          </a:prstGeom>
          <a:ln w="25400">
            <a:solidFill>
              <a:srgbClr val="18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18504" y="2148840"/>
            <a:ext cx="157276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85432" y="1847088"/>
            <a:ext cx="438912" cy="438912"/>
          </a:xfrm>
          <a:prstGeom prst="ellipse">
            <a:avLst/>
          </a:prstGeom>
          <a:solidFill>
            <a:srgbClr val="E6414B"/>
          </a:solidFill>
          <a:ln>
            <a:solidFill>
              <a:srgbClr val="E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5432" y="1856231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2423160"/>
            <a:ext cx="13898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42337"/>
                </a:solidFill>
                <a:latin typeface="Aptos"/>
              </a:rPr>
              <a:t>ATC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2852928"/>
            <a:ext cx="138988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D3746"/>
                </a:solidFill>
                <a:latin typeface="Aptos"/>
              </a:rPr>
              <a:t>Collect findings,
severity &amp; source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91272" y="2990088"/>
            <a:ext cx="329184" cy="0"/>
          </a:xfrm>
          <a:prstGeom prst="line">
            <a:avLst/>
          </a:prstGeom>
          <a:ln w="25400">
            <a:solidFill>
              <a:srgbClr val="18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57032" y="2148840"/>
            <a:ext cx="157276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23960" y="1847088"/>
            <a:ext cx="438912" cy="438912"/>
          </a:xfrm>
          <a:prstGeom prst="ellipse">
            <a:avLst/>
          </a:prstGeom>
          <a:solidFill>
            <a:srgbClr val="26875B"/>
          </a:solidFill>
          <a:ln>
            <a:solidFill>
              <a:srgbClr val="268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1856231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2423160"/>
            <a:ext cx="13898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42337"/>
                </a:solidFill>
                <a:latin typeface="Aptos"/>
              </a:rPr>
              <a:t>AI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2852928"/>
            <a:ext cx="138988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D3746"/>
                </a:solidFill>
                <a:latin typeface="Aptos"/>
              </a:rPr>
              <a:t>Context + RAG /
review generation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2990088"/>
            <a:ext cx="329184" cy="0"/>
          </a:xfrm>
          <a:prstGeom prst="line">
            <a:avLst/>
          </a:prstGeom>
          <a:ln w="25400">
            <a:solidFill>
              <a:srgbClr val="18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195560" y="2148840"/>
            <a:ext cx="157276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62488" y="1847088"/>
            <a:ext cx="438912" cy="438912"/>
          </a:xfrm>
          <a:prstGeom prst="ellipse">
            <a:avLst/>
          </a:prstGeom>
          <a:solidFill>
            <a:srgbClr val="142337"/>
          </a:solidFill>
          <a:ln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62488" y="1856231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2423160"/>
            <a:ext cx="13898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42337"/>
                </a:solidFill>
                <a:latin typeface="Aptos"/>
              </a:rPr>
              <a:t>SPICE UI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0" y="2852928"/>
            <a:ext cx="138988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D3746"/>
                </a:solidFill>
                <a:latin typeface="Aptos"/>
              </a:rPr>
              <a:t>Reviewer sees
one workspace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443484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645152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84A7D"/>
                </a:solidFill>
                <a:latin typeface="Aptos"/>
              </a:rPr>
              <a:t>Review context assembled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80360" y="4590288"/>
            <a:ext cx="1389888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16936" y="4709160"/>
            <a:ext cx="131673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D3746"/>
                </a:solidFill>
                <a:latin typeface="Aptos"/>
              </a:rPr>
              <a:t>Object list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26280" y="4590288"/>
            <a:ext cx="1389888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62856" y="4709160"/>
            <a:ext cx="131673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D3746"/>
                </a:solidFill>
                <a:latin typeface="Aptos"/>
              </a:rPr>
              <a:t>Source code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4590288"/>
            <a:ext cx="1389888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08776" y="4709160"/>
            <a:ext cx="131673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D3746"/>
                </a:solidFill>
                <a:latin typeface="Aptos"/>
              </a:rPr>
              <a:t>ATC messages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8120" y="4590288"/>
            <a:ext cx="1389888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54696" y="4709160"/>
            <a:ext cx="131673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D3746"/>
                </a:solidFill>
                <a:latin typeface="Aptos"/>
              </a:rPr>
              <a:t>AI findings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64040" y="4590288"/>
            <a:ext cx="1389888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0615" y="4709160"/>
            <a:ext cx="131673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D3746"/>
                </a:solidFill>
                <a:latin typeface="Aptos"/>
              </a:rPr>
              <a:t>Recommendations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5806440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7"/>
                </a:solidFill>
                <a:latin typeface="Aptos"/>
              </a:rPr>
              <a:t>Result: a reviewer can inspect the important context without repeatedly navigating SAP.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E232D"/>
                </a:solidFill>
                <a:latin typeface="Aptos"/>
              </a:rPr>
              <a:t>WHAT THE REVIEWER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One screen. One context. A faster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184A7D"/>
                </a:solidFill>
                <a:latin typeface="Aptos"/>
              </a:rPr>
              <a:t>05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84A7D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84A7D"/>
                </a:solidFill>
                <a:latin typeface="Aptos"/>
              </a:rPr>
              <a:t>SPICE  •  SAP Program Inspection and Code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2014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1201400" cy="502920"/>
          </a:xfrm>
          <a:prstGeom prst="rect">
            <a:avLst/>
          </a:prstGeom>
          <a:solidFill>
            <a:srgbClr val="142337"/>
          </a:solidFill>
          <a:ln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27048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SPICE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1472184"/>
            <a:ext cx="2560320" cy="292608"/>
          </a:xfrm>
          <a:prstGeom prst="roundRect">
            <a:avLst>
              <a:gd name="adj" fmla="val 8000"/>
            </a:avLst>
          </a:prstGeom>
          <a:solidFill>
            <a:srgbClr val="2D4155"/>
          </a:solidFill>
          <a:ln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2704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DEVK900123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74519"/>
            <a:ext cx="1920240" cy="402336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21408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84A7D"/>
                </a:solidFill>
                <a:latin typeface="Aptos"/>
              </a:rPr>
              <a:t>TRANSPORT OBJECTS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" y="2578608"/>
            <a:ext cx="15544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8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651760"/>
            <a:ext cx="14447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142337"/>
                </a:solidFill>
                <a:latin typeface="Aptos"/>
              </a:rPr>
              <a:t>ZCL_REVIEW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3081528"/>
            <a:ext cx="15544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54680"/>
            <a:ext cx="14447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142337"/>
                </a:solidFill>
                <a:latin typeface="Aptos"/>
              </a:rPr>
              <a:t>ZREPORT_X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3584448"/>
            <a:ext cx="15544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57600"/>
            <a:ext cx="14447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142337"/>
                </a:solidFill>
                <a:latin typeface="Aptos"/>
              </a:rPr>
              <a:t>ZCDS_SALES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4087368"/>
            <a:ext cx="15544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160520"/>
            <a:ext cx="14447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142337"/>
                </a:solidFill>
                <a:latin typeface="Aptos"/>
              </a:rPr>
              <a:t>ZBDEF_ORDER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4590288"/>
            <a:ext cx="15544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663440"/>
            <a:ext cx="14447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142337"/>
                </a:solidFill>
                <a:latin typeface="Aptos"/>
              </a:rPr>
              <a:t>ZATC_HELPER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2103120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84A7D"/>
                </a:solidFill>
                <a:latin typeface="Aptos"/>
              </a:rPr>
              <a:t>Source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2103120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3746"/>
                </a:solidFill>
                <a:latin typeface="Aptos"/>
              </a:rPr>
              <a:t>ATC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2103120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3746"/>
                </a:solidFill>
                <a:latin typeface="Aptos"/>
              </a:rPr>
              <a:t>AI Review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51760" y="2450592"/>
            <a:ext cx="1097279" cy="0"/>
          </a:xfrm>
          <a:prstGeom prst="line">
            <a:avLst/>
          </a:prstGeom>
          <a:ln w="38100">
            <a:solidFill>
              <a:srgbClr val="18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651760" y="2651760"/>
            <a:ext cx="4709160" cy="27889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07792" y="2880360"/>
            <a:ext cx="416052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E1EBF5"/>
                </a:solidFill>
                <a:latin typeface="Consolas"/>
              </a:rPr>
              <a:t>01   CLASS zcl_review DEFINITION.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3191256"/>
            <a:ext cx="416052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E1EBF5"/>
                </a:solidFill>
                <a:latin typeface="Consolas"/>
              </a:rPr>
              <a:t>02     PUBLIC SECTION.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7792" y="3502152"/>
            <a:ext cx="416052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E1EBF5"/>
                </a:solidFill>
                <a:latin typeface="Consolas"/>
              </a:rPr>
              <a:t>03       METHODS review.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7792" y="3813048"/>
            <a:ext cx="416052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E1EBF5"/>
                </a:solidFill>
                <a:latin typeface="Consolas"/>
              </a:rPr>
              <a:t>04   ENDCLASS.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2" y="4123944"/>
            <a:ext cx="416052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E1EBF5"/>
                </a:solidFill>
                <a:latin typeface="Consolas"/>
              </a:rPr>
              <a:t>05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7792" y="4434840"/>
            <a:ext cx="416052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E1EBF5"/>
                </a:solidFill>
                <a:latin typeface="Consolas"/>
              </a:rPr>
              <a:t>06   SELECT * FROM vbak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07792" y="4745736"/>
            <a:ext cx="416052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E1EBF5"/>
                </a:solidFill>
                <a:latin typeface="Consolas"/>
              </a:rPr>
              <a:t>07     INTO TABLE @DATA(lt_sales).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2651760"/>
            <a:ext cx="36118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2907792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BE232D"/>
                </a:solidFill>
                <a:latin typeface="Aptos"/>
              </a:rPr>
              <a:t>AI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3319272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84A7D"/>
                </a:solidFill>
                <a:latin typeface="Aptos"/>
              </a:rPr>
              <a:t>Maintainability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331927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E9423"/>
                </a:solidFill>
                <a:latin typeface="Aptos"/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3657600"/>
            <a:ext cx="2880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D3746"/>
                </a:solidFill>
                <a:latin typeface="Aptos"/>
              </a:rPr>
              <a:t>Potential performance impact from broad data selection.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4370832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84A7D"/>
                </a:solidFill>
                <a:latin typeface="Aptos"/>
              </a:rPr>
              <a:t>Recommendation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4681728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D3746"/>
                </a:solidFill>
                <a:latin typeface="Aptos"/>
              </a:rPr>
              <a:t>Select only required fields and apply a suitable filter.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6144768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7"/>
                </a:solidFill>
                <a:latin typeface="Aptos"/>
              </a:rPr>
              <a:t>SPICE brings the review evidence together so the reviewer can focus on the decision — not navigation.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