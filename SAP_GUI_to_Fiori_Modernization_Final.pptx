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38c7e6d-8057-ac2b-9956-0ca6527b5de6}">
          <p14:sldIdLst>
            <p14:sldId id="256"/>
          </p14:sldIdLst>
        </p14:section>
        <p14:section name="The Opportunity" id="{29d34fa7-bbcb-73a6-65da-51ee69bf4946}">
          <p14:sldIdLst>
            <p14:sldId id="257"/>
          </p14:sldIdLst>
        </p14:section>
        <p14:section name="Business Value" id="{7d2bb75e-fbde-7b14-3628-ed8c081857a8}">
          <p14:sldIdLst>
            <p14:sldId id="258"/>
          </p14:sldIdLst>
        </p14:section>
        <p14:section name="Real Business Scenarios" id="{be07ce47-cc07-89ad-1abc-5bce96063708}">
          <p14:sldIdLst>
            <p14:sldId id="259"/>
          </p14:sldIdLst>
        </p14:section>
        <p14:section name="Migration Considerations" id="{9c0328c6-d6b7-39d8-afa5-e1b7793342ab}">
          <p14:sldIdLst>
            <p14:sldId id="260"/>
          </p14:sldIdLst>
        </p14:section>
        <p14:section name="Roadmap" id="{046a1df9-7e8e-a925-edd1-8feae2f1de7a}">
          <p14:sldIdLst>
            <p14:sldId id="261"/>
          </p14:sldIdLst>
        </p14:section>
        <p14:section name="Leadership Decision" id="{75c03502-1895-160d-8526-decce88d73c9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LIGH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60350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5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630936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34340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465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Modernizing SAP Business Processes: From SAP GUI to SAP Fiori  |  Enhancing Business Productivity, User Experience &amp; Operational Excellence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465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Modernizing SAP Business Processes: From SAP GUI to SAP Fiori  |  Enhancing Business Productivity, User Experience &amp; Operational Excellence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chemeClr val="accent2"/>
                </a:solidFill>
              </a:rPr>
              <a:t>LEADERSHIP BRIEFING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Modernizing SAP Business Processes</a:t>
            </a:r>
            <a:endParaRPr lang="en-US" sz="4600" dirty="0"/>
          </a:p>
          <a:p>
            <a:pPr algn="l" indent="0" marL="0">
              <a:buNone/>
            </a:pPr>
            <a:r>
              <a:rPr lang="en-US" sz="2600" b="1" i="1" dirty="0">
                <a:solidFill>
                  <a:schemeClr val="accent2"/>
                </a:solidFill>
              </a:rPr>
              <a:t>From SAP GUI to SAP Fiori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343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Enhancing Business Productivity, User Experience &amp; Operational Excellence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</a:rPr>
              <a:t>SAP S/4HANA  ·  USER EXPERIENCE</a:t>
            </a:r>
            <a:endParaRPr lang="en-US" sz="1100" dirty="0"/>
          </a:p>
        </p:txBody>
      </p:sp>
      <p:sp>
        <p:nvSpPr>
          <p:cNvPr id="6" name="Tile Orders"/>
          <p:cNvSpPr/>
          <p:nvPr/>
        </p:nvSpPr>
        <p:spPr>
          <a:xfrm>
            <a:off x="7269480" y="1234440"/>
            <a:ext cx="1353312" cy="1353312"/>
          </a:xfrm>
          <a:prstGeom prst="roundRect">
            <a:avLst>
              <a:gd name="adj" fmla="val 8108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pic>
        <p:nvPicPr>
          <p:cNvPr id="7" name="Tile icon Orders" descr="Or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48" y="14356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70648" y="21305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Orders</a:t>
            </a:r>
            <a:endParaRPr lang="en-US" sz="1400" dirty="0"/>
          </a:p>
        </p:txBody>
      </p:sp>
      <p:sp>
        <p:nvSpPr>
          <p:cNvPr id="9" name="Tile Approvals"/>
          <p:cNvSpPr/>
          <p:nvPr/>
        </p:nvSpPr>
        <p:spPr>
          <a:xfrm>
            <a:off x="8805672" y="1234440"/>
            <a:ext cx="1353312" cy="1353312"/>
          </a:xfrm>
          <a:prstGeom prst="roundRect">
            <a:avLst>
              <a:gd name="adj" fmla="val 8108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pic>
        <p:nvPicPr>
          <p:cNvPr id="10" name="Tile icon Approvals" descr="Approva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4356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006840" y="21305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Approvals</a:t>
            </a:r>
            <a:endParaRPr lang="en-US" sz="1400" dirty="0"/>
          </a:p>
        </p:txBody>
      </p:sp>
      <p:sp>
        <p:nvSpPr>
          <p:cNvPr id="12" name="Tile KPIs"/>
          <p:cNvSpPr/>
          <p:nvPr/>
        </p:nvSpPr>
        <p:spPr>
          <a:xfrm>
            <a:off x="10341864" y="1234440"/>
            <a:ext cx="1353312" cy="1353312"/>
          </a:xfrm>
          <a:prstGeom prst="roundRect">
            <a:avLst>
              <a:gd name="adj" fmla="val 8108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pic>
        <p:nvPicPr>
          <p:cNvPr id="13" name="Tile icon KPIs" descr="KPI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143560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43032" y="21305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KPIs</a:t>
            </a:r>
            <a:endParaRPr lang="en-US" sz="1400" dirty="0"/>
          </a:p>
        </p:txBody>
      </p:sp>
      <p:sp>
        <p:nvSpPr>
          <p:cNvPr id="15" name="Tile Procurement"/>
          <p:cNvSpPr/>
          <p:nvPr/>
        </p:nvSpPr>
        <p:spPr>
          <a:xfrm>
            <a:off x="7269480" y="2770632"/>
            <a:ext cx="1353312" cy="1353312"/>
          </a:xfrm>
          <a:prstGeom prst="roundRect">
            <a:avLst>
              <a:gd name="adj" fmla="val 8108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pic>
        <p:nvPicPr>
          <p:cNvPr id="16" name="Tile icon Procurement" descr="Procure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2971800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470648" y="36667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Procurement</a:t>
            </a:r>
            <a:endParaRPr lang="en-US" sz="1400" dirty="0"/>
          </a:p>
        </p:txBody>
      </p:sp>
      <p:sp>
        <p:nvSpPr>
          <p:cNvPr id="18" name="Tile Fiori"/>
          <p:cNvSpPr/>
          <p:nvPr/>
        </p:nvSpPr>
        <p:spPr>
          <a:xfrm>
            <a:off x="8805672" y="2770632"/>
            <a:ext cx="1353312" cy="1353312"/>
          </a:xfrm>
          <a:prstGeom prst="roundRect">
            <a:avLst>
              <a:gd name="adj" fmla="val 8108"/>
            </a:avLst>
          </a:prstGeom>
          <a:solidFill>
            <a:schemeClr val="accent2"/>
          </a:solidFill>
          <a:ln/>
        </p:spPr>
      </p:sp>
      <p:pic>
        <p:nvPicPr>
          <p:cNvPr id="19" name="Tile icon Fiori" descr="Fior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971800"/>
            <a:ext cx="420624" cy="42062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06840" y="36667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Fiori</a:t>
            </a:r>
            <a:endParaRPr lang="en-US" sz="1400" dirty="0"/>
          </a:p>
        </p:txBody>
      </p:sp>
      <p:sp>
        <p:nvSpPr>
          <p:cNvPr id="21" name="Tile Finance"/>
          <p:cNvSpPr/>
          <p:nvPr/>
        </p:nvSpPr>
        <p:spPr>
          <a:xfrm>
            <a:off x="10341864" y="2770632"/>
            <a:ext cx="1353312" cy="1353312"/>
          </a:xfrm>
          <a:prstGeom prst="roundRect">
            <a:avLst>
              <a:gd name="adj" fmla="val 8108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pic>
        <p:nvPicPr>
          <p:cNvPr id="22" name="Tile icon Finance" descr="Finan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3032" y="2971800"/>
            <a:ext cx="420624" cy="42062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543032" y="36667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Finance</a:t>
            </a:r>
            <a:endParaRPr lang="en-US" sz="1400" dirty="0"/>
          </a:p>
        </p:txBody>
      </p:sp>
      <p:sp>
        <p:nvSpPr>
          <p:cNvPr id="24" name="Tile Inventory"/>
          <p:cNvSpPr/>
          <p:nvPr/>
        </p:nvSpPr>
        <p:spPr>
          <a:xfrm>
            <a:off x="7269480" y="4306824"/>
            <a:ext cx="1353312" cy="1353312"/>
          </a:xfrm>
          <a:prstGeom prst="roundRect">
            <a:avLst>
              <a:gd name="adj" fmla="val 8108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pic>
        <p:nvPicPr>
          <p:cNvPr id="25" name="Tile icon Inventory" descr="Inven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648" y="4507992"/>
            <a:ext cx="420624" cy="42062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470648" y="5202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Inventory</a:t>
            </a:r>
            <a:endParaRPr lang="en-US" sz="1400" dirty="0"/>
          </a:p>
        </p:txBody>
      </p:sp>
      <p:sp>
        <p:nvSpPr>
          <p:cNvPr id="27" name="Tile Workflows"/>
          <p:cNvSpPr/>
          <p:nvPr/>
        </p:nvSpPr>
        <p:spPr>
          <a:xfrm>
            <a:off x="8805672" y="4306824"/>
            <a:ext cx="1353312" cy="1353312"/>
          </a:xfrm>
          <a:prstGeom prst="roundRect">
            <a:avLst>
              <a:gd name="adj" fmla="val 8108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pic>
        <p:nvPicPr>
          <p:cNvPr id="28" name="Tile icon Workflows" descr="Workflow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4507992"/>
            <a:ext cx="420624" cy="42062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006840" y="5202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Workflows</a:t>
            </a:r>
            <a:endParaRPr lang="en-US" sz="1400" dirty="0"/>
          </a:p>
        </p:txBody>
      </p:sp>
      <p:sp>
        <p:nvSpPr>
          <p:cNvPr id="30" name="Tile Adoption"/>
          <p:cNvSpPr/>
          <p:nvPr/>
        </p:nvSpPr>
        <p:spPr>
          <a:xfrm>
            <a:off x="10341864" y="4306824"/>
            <a:ext cx="1353312" cy="1353312"/>
          </a:xfrm>
          <a:prstGeom prst="roundRect">
            <a:avLst>
              <a:gd name="adj" fmla="val 8108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pic>
        <p:nvPicPr>
          <p:cNvPr id="31" name="Tile icon Adoption" descr="Adopti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3032" y="4507992"/>
            <a:ext cx="420624" cy="420624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10543032" y="5202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Adoption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 |  THE OPPORTUNITY: WHY MODERNIZE SAP USER EXPERIENCE?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Moving Beyond Transactions to Intelligent Business Experiences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SAP S/4HANA modernization is not only about upgrading the backend. It is also an opportunity to transform how employees interact with SAP.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61772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6" name="Traditional SAP GUI icon circle"/>
          <p:cNvSpPr/>
          <p:nvPr/>
        </p:nvSpPr>
        <p:spPr>
          <a:xfrm>
            <a:off x="822960" y="2176272"/>
            <a:ext cx="530352" cy="530352"/>
          </a:xfrm>
          <a:prstGeom prst="ellipse">
            <a:avLst/>
          </a:prstGeom>
          <a:solidFill>
            <a:srgbClr val="5B6B82"/>
          </a:solidFill>
          <a:ln/>
        </p:spPr>
      </p:sp>
      <p:pic>
        <p:nvPicPr>
          <p:cNvPr id="7" name="Traditional SAP GUI icon" descr="Traditional SAP GUI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2303556"/>
            <a:ext cx="275783" cy="2757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1762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SAP GUI</a:t>
            </a:r>
            <a:endParaRPr lang="en-US" sz="2000" dirty="0"/>
          </a:p>
        </p:txBody>
      </p:sp>
      <p:sp>
        <p:nvSpPr>
          <p:cNvPr id="9" name="T-code bar"/>
          <p:cNvSpPr/>
          <p:nvPr/>
        </p:nvSpPr>
        <p:spPr>
          <a:xfrm>
            <a:off x="822960" y="2907792"/>
            <a:ext cx="4069080" cy="384048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290779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code:  </a:t>
            </a:r>
            <a:pPr indent="0" marL="0">
              <a:buNone/>
            </a:pPr>
            <a:r>
              <a:rPr lang="en-US" sz="1300" b="1" dirty="0">
                <a:solidFill>
                  <a:srgbClr val="D9B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VA01</a:t>
            </a:r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Enter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93008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Transaction-code-driven navigation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Multiple screens and manual steps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Technical, information-dense interface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Separate reports and business transactions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Greater dependence on user familiarity with T-codes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022592" y="1920240"/>
            <a:ext cx="461772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/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13" name="Modern SAP Fiori icon circle"/>
          <p:cNvSpPr/>
          <p:nvPr/>
        </p:nvSpPr>
        <p:spPr>
          <a:xfrm>
            <a:off x="7296912" y="2176272"/>
            <a:ext cx="530352" cy="530352"/>
          </a:xfrm>
          <a:prstGeom prst="ellipse">
            <a:avLst/>
          </a:prstGeom>
          <a:solidFill>
            <a:srgbClr val="D9B65F"/>
          </a:solidFill>
          <a:ln/>
        </p:spPr>
      </p:sp>
      <p:pic>
        <p:nvPicPr>
          <p:cNvPr id="14" name="Modern SAP Fiori icon" descr="Modern SAP Fiori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196" y="2303556"/>
            <a:ext cx="275783" cy="27578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028432" y="217627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SAP Fiori</a:t>
            </a:r>
            <a:endParaRPr lang="en-US" sz="2000" dirty="0"/>
          </a:p>
        </p:txBody>
      </p:sp>
      <p:sp>
        <p:nvSpPr>
          <p:cNvPr id="16" name="Fiori tile Orders"/>
          <p:cNvSpPr/>
          <p:nvPr/>
        </p:nvSpPr>
        <p:spPr>
          <a:xfrm>
            <a:off x="7296912" y="2907792"/>
            <a:ext cx="1283208" cy="384048"/>
          </a:xfrm>
          <a:prstGeom prst="roundRect">
            <a:avLst>
              <a:gd name="adj" fmla="val 11905"/>
            </a:avLst>
          </a:prstGeom>
          <a:solidFill>
            <a:schemeClr val="accent5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296912" y="2907792"/>
            <a:ext cx="1283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Orders</a:t>
            </a:r>
            <a:endParaRPr lang="en-US" sz="1300" dirty="0"/>
          </a:p>
        </p:txBody>
      </p:sp>
      <p:sp>
        <p:nvSpPr>
          <p:cNvPr id="18" name="Fiori tile Approvals"/>
          <p:cNvSpPr/>
          <p:nvPr/>
        </p:nvSpPr>
        <p:spPr>
          <a:xfrm>
            <a:off x="8689848" y="2907792"/>
            <a:ext cx="1283208" cy="384048"/>
          </a:xfrm>
          <a:prstGeom prst="roundRect">
            <a:avLst>
              <a:gd name="adj" fmla="val 11905"/>
            </a:avLst>
          </a:prstGeom>
          <a:solidFill>
            <a:schemeClr val="accent5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689848" y="2907792"/>
            <a:ext cx="1283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Approvals</a:t>
            </a:r>
            <a:endParaRPr lang="en-US" sz="1300" dirty="0"/>
          </a:p>
        </p:txBody>
      </p:sp>
      <p:sp>
        <p:nvSpPr>
          <p:cNvPr id="20" name="Fiori tile KPIs"/>
          <p:cNvSpPr/>
          <p:nvPr/>
        </p:nvSpPr>
        <p:spPr>
          <a:xfrm>
            <a:off x="10082784" y="2907792"/>
            <a:ext cx="1283208" cy="384048"/>
          </a:xfrm>
          <a:prstGeom prst="roundRect">
            <a:avLst>
              <a:gd name="adj" fmla="val 11905"/>
            </a:avLst>
          </a:prstGeom>
          <a:solidFill>
            <a:schemeClr val="accent5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082784" y="2907792"/>
            <a:ext cx="1283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KPIs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7296912" y="3493008"/>
            <a:ext cx="4069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Role-based, intuitive applications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Streamlined, task-focused workflows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Browser-based and responsive user experience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Embedded operational insights and KPIs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Integrated navigation and business actions</a:t>
            </a:r>
            <a:endParaRPr lang="en-US" sz="1400" dirty="0"/>
          </a:p>
        </p:txBody>
      </p:sp>
      <p:sp>
        <p:nvSpPr>
          <p:cNvPr id="23" name="Transition arrow"/>
          <p:cNvSpPr/>
          <p:nvPr/>
        </p:nvSpPr>
        <p:spPr>
          <a:xfrm>
            <a:off x="5276088" y="3017520"/>
            <a:ext cx="1636776" cy="7315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257800" y="3931920"/>
            <a:ext cx="1673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From Transaction-Centric to Business-Process-Centric</a:t>
            </a:r>
            <a:endParaRPr lang="en-US" sz="1300" dirty="0"/>
          </a:p>
        </p:txBody>
      </p:sp>
      <p:sp>
        <p:nvSpPr>
          <p:cNvPr id="25" name="Takeaway strip"/>
          <p:cNvSpPr/>
          <p:nvPr/>
        </p:nvSpPr>
        <p:spPr>
          <a:xfrm>
            <a:off x="548640" y="5486400"/>
            <a:ext cx="11091672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22960" y="548640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LEADERSHIP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TAKEAWAY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2331720" y="5486400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Modernizing the SAP experience can simplify everyday operations, strengthen process visibility, and improve employee productivity.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 |  BUSINESS VALUE: WHAT DO GPOs AND BUSINESS TEAMS GAIN?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Turning a Better User Experience into Measurable Business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108606" cy="310896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5" name="Higher Productivity icon circ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Higher Productivity icon" descr="Higher Productivit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184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057400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Higher Productivity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06040"/>
            <a:ext cx="183428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Less navigation and manual repetition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Streamlined common transactions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Efficient high-volume processes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94406" y="1325880"/>
            <a:ext cx="2108606" cy="310896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10" name="Better Process Visibility icon circle"/>
          <p:cNvSpPr/>
          <p:nvPr/>
        </p:nvSpPr>
        <p:spPr>
          <a:xfrm>
            <a:off x="2977286" y="1508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Better Process Visibility icon" descr="Better Process Visibilit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014" y="16184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77286" y="2057400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Better Process Visibility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77286" y="2606040"/>
            <a:ext cx="183428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Relevant KPIs and operational insights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Exceptions and pending items easier to spot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Faster, better-informed decisions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40173" y="1325880"/>
            <a:ext cx="2108606" cy="310896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15" name="Improved User Adoption icon circle"/>
          <p:cNvSpPr/>
          <p:nvPr/>
        </p:nvSpPr>
        <p:spPr>
          <a:xfrm>
            <a:off x="5223053" y="1508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proved User Adoption icon" descr="Improved User Adopt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81" y="16184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23053" y="2057400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Improved User Adoption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223053" y="2606040"/>
            <a:ext cx="183428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Simplified, role-based interfaces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Less reliance on memorizing T-codes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More intuitive onboarding for new employees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285939" y="1325880"/>
            <a:ext cx="2108606" cy="310896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20" name="Integrated Workflows icon circle"/>
          <p:cNvSpPr/>
          <p:nvPr/>
        </p:nvSpPr>
        <p:spPr>
          <a:xfrm>
            <a:off x="7468819" y="1508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ntegrated Workflows icon" descr="Integrated Workflow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8547" y="16184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68819" y="2057400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Integrated Workflows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68819" y="2606040"/>
            <a:ext cx="183428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Approvals, tasks and actions consolidated where supported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Less switching between applications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More consistent processes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531706" y="1325880"/>
            <a:ext cx="2108606" cy="3108960"/>
          </a:xfrm>
          <a:prstGeom prst="roundRect">
            <a:avLst>
              <a:gd name="adj" fmla="val 3469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25" name="Future-Ready SAP Landscape icon circle"/>
          <p:cNvSpPr/>
          <p:nvPr/>
        </p:nvSpPr>
        <p:spPr>
          <a:xfrm>
            <a:off x="9714586" y="1508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Future-Ready SAP Landscape icon" descr="Future-Ready SAP Landscap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4314" y="161848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14586" y="2057400"/>
            <a:ext cx="17885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Future-Ready SAP Landscape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714586" y="2606040"/>
            <a:ext cx="183428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Aligned with S/4HANA UX direction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Supports modern SAP extension approaches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Standardization, less unnecessary custom development</a:t>
            </a:r>
            <a:endParaRPr lang="en-US" sz="1300" dirty="0"/>
          </a:p>
        </p:txBody>
      </p:sp>
      <p:sp>
        <p:nvSpPr>
          <p:cNvPr id="29" name="Illustrative example band"/>
          <p:cNvSpPr/>
          <p:nvPr/>
        </p:nvSpPr>
        <p:spPr>
          <a:xfrm>
            <a:off x="548640" y="4526280"/>
            <a:ext cx="11091672" cy="896112"/>
          </a:xfrm>
          <a:prstGeom prst="roundRect">
            <a:avLst>
              <a:gd name="adj" fmla="val 8163"/>
            </a:avLst>
          </a:prstGeom>
          <a:solidFill>
            <a:schemeClr val="accent5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822960" y="4599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2"/>
                </a:solidFill>
              </a:rPr>
              <a:t>ILLUSTRATIVE EXAMPLE</a:t>
            </a:r>
            <a:endParaRPr lang="en-US" sz="1000" dirty="0"/>
          </a:p>
        </p:txBody>
      </p:sp>
      <p:sp>
        <p:nvSpPr>
          <p:cNvPr id="31" name="Equation tile 1"/>
          <p:cNvSpPr/>
          <p:nvPr/>
        </p:nvSpPr>
        <p:spPr>
          <a:xfrm>
            <a:off x="822960" y="4837176"/>
            <a:ext cx="1645920" cy="512064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22960" y="483717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9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transactions / day</a:t>
            </a:r>
            <a:endParaRPr lang="en-US" sz="1900" dirty="0"/>
          </a:p>
        </p:txBody>
      </p:sp>
      <p:sp>
        <p:nvSpPr>
          <p:cNvPr id="33" name="Text 26"/>
          <p:cNvSpPr txBox="1"/>
          <p:nvPr/>
        </p:nvSpPr>
        <p:spPr>
          <a:xfrm>
            <a:off x="2468880" y="483717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×</a:t>
            </a:r>
            <a:endParaRPr lang="en-US" sz="2200" dirty="0"/>
          </a:p>
        </p:txBody>
      </p:sp>
      <p:sp>
        <p:nvSpPr>
          <p:cNvPr id="34" name="Equation tile 2"/>
          <p:cNvSpPr/>
          <p:nvPr/>
        </p:nvSpPr>
        <p:spPr>
          <a:xfrm>
            <a:off x="2852928" y="4837176"/>
            <a:ext cx="1645920" cy="512064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2852928" y="483717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</a:t>
            </a:r>
            <a:endParaRPr lang="en-US" sz="19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saved per transaction</a:t>
            </a:r>
            <a:endParaRPr lang="en-US" sz="1900" dirty="0"/>
          </a:p>
        </p:txBody>
      </p:sp>
      <p:sp>
        <p:nvSpPr>
          <p:cNvPr id="36" name="Text 29"/>
          <p:cNvSpPr txBox="1"/>
          <p:nvPr/>
        </p:nvSpPr>
        <p:spPr>
          <a:xfrm>
            <a:off x="4498848" y="483717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×</a:t>
            </a:r>
            <a:endParaRPr lang="en-US" sz="2200" dirty="0"/>
          </a:p>
        </p:txBody>
      </p:sp>
      <p:sp>
        <p:nvSpPr>
          <p:cNvPr id="37" name="Equation tile 3"/>
          <p:cNvSpPr/>
          <p:nvPr/>
        </p:nvSpPr>
        <p:spPr>
          <a:xfrm>
            <a:off x="4882896" y="4837176"/>
            <a:ext cx="1645920" cy="512064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4882896" y="483717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9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working days / month</a:t>
            </a:r>
            <a:endParaRPr lang="en-US" sz="1900" dirty="0"/>
          </a:p>
        </p:txBody>
      </p:sp>
      <p:sp>
        <p:nvSpPr>
          <p:cNvPr id="39" name="Text 32"/>
          <p:cNvSpPr txBox="1"/>
          <p:nvPr/>
        </p:nvSpPr>
        <p:spPr>
          <a:xfrm>
            <a:off x="6528816" y="4837176"/>
            <a:ext cx="384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=</a:t>
            </a:r>
            <a:endParaRPr lang="en-US" sz="2200" dirty="0"/>
          </a:p>
        </p:txBody>
      </p:sp>
      <p:sp>
        <p:nvSpPr>
          <p:cNvPr id="40" name="Equation tile 4"/>
          <p:cNvSpPr/>
          <p:nvPr/>
        </p:nvSpPr>
        <p:spPr>
          <a:xfrm>
            <a:off x="6912864" y="4837176"/>
            <a:ext cx="1645920" cy="512064"/>
          </a:xfrm>
          <a:prstGeom prst="roundRect">
            <a:avLst>
              <a:gd name="adj" fmla="val 10714"/>
            </a:avLst>
          </a:prstGeom>
          <a:solidFill>
            <a:schemeClr val="accent2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6912864" y="483717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~73 hours</a:t>
            </a:r>
            <a:endParaRPr lang="en-US" sz="19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saved per month</a:t>
            </a:r>
            <a:endParaRPr lang="en-US" sz="1900" dirty="0"/>
          </a:p>
        </p:txBody>
      </p:sp>
      <p:sp>
        <p:nvSpPr>
          <p:cNvPr id="42" name="Text 35"/>
          <p:cNvSpPr txBox="1"/>
          <p:nvPr/>
        </p:nvSpPr>
        <p:spPr>
          <a:xfrm>
            <a:off x="896112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Illustrative scenario, not a validated productivity result.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Actual savings should be measured through business-process pilots.</a:t>
            </a:r>
            <a:endParaRPr lang="en-US" sz="1100" dirty="0"/>
          </a:p>
        </p:txBody>
      </p:sp>
      <p:sp>
        <p:nvSpPr>
          <p:cNvPr id="43" name="Takeaway strip"/>
          <p:cNvSpPr/>
          <p:nvPr/>
        </p:nvSpPr>
        <p:spPr>
          <a:xfrm>
            <a:off x="548640" y="5486400"/>
            <a:ext cx="11091672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822960" y="548640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LEADERSHIP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TAKEAWAY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2331720" y="5486400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The business case should be based on measurable improvements in processing time, user experience, errors and operational visibility.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548640" y="616305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Ref: SAP Fiori design guidelines, experience.sap.com/fiori-design-web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 |  REAL BUSINESS SCENARIOS: WHERE CAN FIORI ADD VALUE?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Modernization Opportunities Across Core Business Processes</a:t>
            </a:r>
            <a:endParaRPr lang="en-US" sz="2800" dirty="0"/>
          </a:p>
        </p:txBody>
      </p:sp>
      <p:sp>
        <p:nvSpPr>
          <p:cNvPr id="4" name="Table header"/>
          <p:cNvSpPr/>
          <p:nvPr/>
        </p:nvSpPr>
        <p:spPr>
          <a:xfrm>
            <a:off x="548640" y="1280160"/>
            <a:ext cx="11091672" cy="38404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Business Function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2801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Traditional SAP GUI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280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Fiori Application to Evaluate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28016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Potential Business Value</a:t>
            </a:r>
            <a:endParaRPr lang="en-US" sz="1400" dirty="0"/>
          </a:p>
        </p:txBody>
      </p:sp>
      <p:sp>
        <p:nvSpPr>
          <p:cNvPr id="9" name="Row Sales / Order Management"/>
          <p:cNvSpPr/>
          <p:nvPr/>
        </p:nvSpPr>
        <p:spPr>
          <a:xfrm>
            <a:off x="548640" y="1700784"/>
            <a:ext cx="11091672" cy="493776"/>
          </a:xfrm>
          <a:prstGeom prst="rect">
            <a:avLst/>
          </a:prstGeom>
          <a:solidFill>
            <a:schemeClr val="bg1"/>
          </a:solidFill>
          <a:ln w="6350">
            <a:solidFill>
              <a:srgbClr val="E3E8EF"/>
            </a:solidFill>
            <a:prstDash val="solid"/>
          </a:ln>
        </p:spPr>
      </p:sp>
      <p:sp>
        <p:nvSpPr>
          <p:cNvPr id="10" name="Sales / Order Management icon circle"/>
          <p:cNvSpPr/>
          <p:nvPr/>
        </p:nvSpPr>
        <p:spPr>
          <a:xfrm>
            <a:off x="731520" y="1764792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Sales / Order Management icon" descr="Sales / Order Manageme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1852574"/>
            <a:ext cx="190195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170078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Sales / Order Management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1700784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VA01, VA02, VA03, VA05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1700784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Manage Sales Orders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0" y="1700784"/>
            <a:ext cx="2496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Simplified order search and processing</a:t>
            </a:r>
            <a:endParaRPr lang="en-US" sz="1400" dirty="0"/>
          </a:p>
        </p:txBody>
      </p:sp>
      <p:sp>
        <p:nvSpPr>
          <p:cNvPr id="16" name="Row Procurement"/>
          <p:cNvSpPr/>
          <p:nvPr/>
        </p:nvSpPr>
        <p:spPr>
          <a:xfrm>
            <a:off x="548640" y="2231136"/>
            <a:ext cx="11091672" cy="493776"/>
          </a:xfrm>
          <a:prstGeom prst="rect">
            <a:avLst/>
          </a:prstGeom>
          <a:solidFill>
            <a:schemeClr val="bg1"/>
          </a:solidFill>
          <a:ln w="6350">
            <a:solidFill>
              <a:srgbClr val="E3E8EF"/>
            </a:solidFill>
            <a:prstDash val="solid"/>
          </a:ln>
        </p:spPr>
      </p:sp>
      <p:sp>
        <p:nvSpPr>
          <p:cNvPr id="17" name="Procurement icon circle"/>
          <p:cNvSpPr/>
          <p:nvPr/>
        </p:nvSpPr>
        <p:spPr>
          <a:xfrm>
            <a:off x="731520" y="2295144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8" name="Procurement icon" descr="Procureme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" y="2382926"/>
            <a:ext cx="190195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234440" y="223113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Procurement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520440" y="2231136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ME21N, ME22N, ME23N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5852160" y="2231136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Manage Purchase Orders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9052560" y="2231136"/>
            <a:ext cx="2496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Improved purchasing workflow</a:t>
            </a:r>
            <a:endParaRPr lang="en-US" sz="1400" dirty="0"/>
          </a:p>
        </p:txBody>
      </p:sp>
      <p:sp>
        <p:nvSpPr>
          <p:cNvPr id="23" name="Row Finance"/>
          <p:cNvSpPr/>
          <p:nvPr/>
        </p:nvSpPr>
        <p:spPr>
          <a:xfrm>
            <a:off x="548640" y="2761488"/>
            <a:ext cx="11091672" cy="493776"/>
          </a:xfrm>
          <a:prstGeom prst="rect">
            <a:avLst/>
          </a:prstGeom>
          <a:solidFill>
            <a:schemeClr val="bg1"/>
          </a:solidFill>
          <a:ln w="6350">
            <a:solidFill>
              <a:srgbClr val="E3E8EF"/>
            </a:solidFill>
            <a:prstDash val="solid"/>
          </a:ln>
        </p:spPr>
      </p:sp>
      <p:sp>
        <p:nvSpPr>
          <p:cNvPr id="24" name="Finance icon circle"/>
          <p:cNvSpPr/>
          <p:nvPr/>
        </p:nvSpPr>
        <p:spPr>
          <a:xfrm>
            <a:off x="731520" y="2825496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5" name="Finance icon" descr="Financ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2913278"/>
            <a:ext cx="190195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234440" y="276148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Finance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3520440" y="2761488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FB03, FBL3N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852160" y="276148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Manage Journal Entries / Display Line Items in General Ledger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9052560" y="2761488"/>
            <a:ext cx="2496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Better document access and financial visibility</a:t>
            </a:r>
            <a:endParaRPr lang="en-US" sz="1400" dirty="0"/>
          </a:p>
        </p:txBody>
      </p:sp>
      <p:sp>
        <p:nvSpPr>
          <p:cNvPr id="30" name="Row Inventory Management"/>
          <p:cNvSpPr/>
          <p:nvPr/>
        </p:nvSpPr>
        <p:spPr>
          <a:xfrm>
            <a:off x="548640" y="3291840"/>
            <a:ext cx="11091672" cy="493776"/>
          </a:xfrm>
          <a:prstGeom prst="rect">
            <a:avLst/>
          </a:prstGeom>
          <a:solidFill>
            <a:schemeClr val="bg1"/>
          </a:solidFill>
          <a:ln w="6350">
            <a:solidFill>
              <a:srgbClr val="E3E8EF"/>
            </a:solidFill>
            <a:prstDash val="solid"/>
          </a:ln>
        </p:spPr>
      </p:sp>
      <p:sp>
        <p:nvSpPr>
          <p:cNvPr id="31" name="Inventory Management icon circle"/>
          <p:cNvSpPr/>
          <p:nvPr/>
        </p:nvSpPr>
        <p:spPr>
          <a:xfrm>
            <a:off x="731520" y="3355848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2" name="Inventory Management icon" descr="Inventory Manageme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" y="3443630"/>
            <a:ext cx="190195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234440" y="329184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Inventory Management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3520440" y="3291840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MIGO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5852160" y="3291840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Post Goods Movement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9052560" y="3291840"/>
            <a:ext cx="2496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Task-focused inventory processing</a:t>
            </a:r>
            <a:endParaRPr lang="en-US" sz="1400" dirty="0"/>
          </a:p>
        </p:txBody>
      </p:sp>
      <p:sp>
        <p:nvSpPr>
          <p:cNvPr id="37" name="Row Billing"/>
          <p:cNvSpPr/>
          <p:nvPr/>
        </p:nvSpPr>
        <p:spPr>
          <a:xfrm>
            <a:off x="548640" y="3822192"/>
            <a:ext cx="11091672" cy="493776"/>
          </a:xfrm>
          <a:prstGeom prst="rect">
            <a:avLst/>
          </a:prstGeom>
          <a:solidFill>
            <a:schemeClr val="bg1"/>
          </a:solidFill>
          <a:ln w="6350">
            <a:solidFill>
              <a:srgbClr val="E3E8EF"/>
            </a:solidFill>
            <a:prstDash val="solid"/>
          </a:ln>
        </p:spPr>
      </p:sp>
      <p:sp>
        <p:nvSpPr>
          <p:cNvPr id="38" name="Billing icon circle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9" name="Billing icon" descr="Bill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" y="3973982"/>
            <a:ext cx="190195" cy="19019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234440" y="382219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Billing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3520440" y="3822192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VF04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5852160" y="3822192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Create Billing Documents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9052560" y="3822192"/>
            <a:ext cx="2496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Streamlined billing worklists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548640" y="4480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Cross-functional outcomes</a:t>
            </a:r>
            <a:endParaRPr lang="en-US" sz="1400" dirty="0"/>
          </a:p>
        </p:txBody>
      </p:sp>
      <p:sp>
        <p:nvSpPr>
          <p:cNvPr id="45" name="Outcome Standardization"/>
          <p:cNvSpPr/>
          <p:nvPr/>
        </p:nvSpPr>
        <p:spPr>
          <a:xfrm>
            <a:off x="3291840" y="4480560"/>
            <a:ext cx="26974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3291840" y="4480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Standardization</a:t>
            </a:r>
            <a:endParaRPr lang="en-US" sz="1400" dirty="0"/>
          </a:p>
        </p:txBody>
      </p:sp>
      <p:sp>
        <p:nvSpPr>
          <p:cNvPr id="47" name="Outcome Operational Visibility"/>
          <p:cNvSpPr/>
          <p:nvPr/>
        </p:nvSpPr>
        <p:spPr>
          <a:xfrm>
            <a:off x="6144768" y="4480560"/>
            <a:ext cx="26974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144768" y="4480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Operational Visibility</a:t>
            </a:r>
            <a:endParaRPr lang="en-US" sz="1400" dirty="0"/>
          </a:p>
        </p:txBody>
      </p:sp>
      <p:sp>
        <p:nvSpPr>
          <p:cNvPr id="49" name="Outcome Process Efficiency"/>
          <p:cNvSpPr/>
          <p:nvPr/>
        </p:nvSpPr>
        <p:spPr>
          <a:xfrm>
            <a:off x="8997696" y="4480560"/>
            <a:ext cx="2697480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8997696" y="44805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Process Efficiency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548640" y="495604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Important: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Application availability and functional equivalence depend on the SAP S/4HANA release, configuration and business scenario. Validate mappings using the SAP Fiori Apps Reference Library.</a:t>
            </a:r>
            <a:endParaRPr lang="en-US" sz="1200" dirty="0"/>
          </a:p>
        </p:txBody>
      </p:sp>
      <p:sp>
        <p:nvSpPr>
          <p:cNvPr id="52" name="Takeaway strip"/>
          <p:cNvSpPr/>
          <p:nvPr/>
        </p:nvSpPr>
        <p:spPr>
          <a:xfrm>
            <a:off x="548640" y="5486400"/>
            <a:ext cx="11091672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822960" y="548640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LEADERSHIP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TAKEAWAY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2331720" y="5486400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Prioritize transactions with high usage, significant manual effort and strong standard Fiori functional coverage.</a:t>
            </a:r>
            <a:endParaRPr lang="en-US" sz="1400" dirty="0"/>
          </a:p>
        </p:txBody>
      </p:sp>
      <p:sp>
        <p:nvSpPr>
          <p:cNvPr id="55" name="Text 48"/>
          <p:cNvSpPr txBox="1"/>
          <p:nvPr/>
        </p:nvSpPr>
        <p:spPr>
          <a:xfrm>
            <a:off x="548640" y="616305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Ref: SAP Fiori Apps Reference Library, fioriappslibrary.hana.ondemand.com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  |  MIGRATION CONSIDERATIONS: MODERNIZE WITHOUT DISRUPTING OPERATIONS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Fiori-First Does Not Mean Eliminating SAP GUI Overnight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84632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5" name="Prioritize Fiori icon circle"/>
          <p:cNvSpPr/>
          <p:nvPr/>
        </p:nvSpPr>
        <p:spPr>
          <a:xfrm>
            <a:off x="822960" y="1572768"/>
            <a:ext cx="457200" cy="457200"/>
          </a:xfrm>
          <a:prstGeom prst="ellipse">
            <a:avLst/>
          </a:prstGeom>
          <a:solidFill>
            <a:srgbClr val="1F7A8C"/>
          </a:solidFill>
          <a:ln/>
        </p:spPr>
      </p:sp>
      <p:pic>
        <p:nvPicPr>
          <p:cNvPr id="6" name="Prioritize Fiori icon" descr="Prioritize Fiori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6824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Prioritize Fiori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12848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suitable standard Fiori application exists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Required business functionality is supported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Users benefit from streamlined navigation or embedded insights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 transaction volumes or significant manual effort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business case demonstrates measurable value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93992" y="1371600"/>
            <a:ext cx="484632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10" name="Retain GUI icon circle"/>
          <p:cNvSpPr/>
          <p:nvPr/>
        </p:nvSpPr>
        <p:spPr>
          <a:xfrm>
            <a:off x="7068312" y="1572768"/>
            <a:ext cx="457200" cy="457200"/>
          </a:xfrm>
          <a:prstGeom prst="ellipse">
            <a:avLst/>
          </a:prstGeom>
          <a:solidFill>
            <a:srgbClr val="5B6B82"/>
          </a:solidFill>
          <a:ln/>
        </p:spPr>
      </p:sp>
      <p:pic>
        <p:nvPicPr>
          <p:cNvPr id="11" name="Retain GUI icon" descr="Retain GUI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824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08392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Retain SAP GUI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068312" y="2212848"/>
            <a:ext cx="434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Standard Fiori does not cover business requirements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Specialized or complex transactions remain GUI-dependent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Migration introduces unacceptable functional gaps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Existing workflows are already highly optimized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Transition cost outweighs measurable benefits</a:t>
            </a:r>
            <a:endParaRPr lang="en-US" sz="1400" dirty="0"/>
          </a:p>
        </p:txBody>
      </p:sp>
      <p:sp>
        <p:nvSpPr>
          <p:cNvPr id="14" name="Balance icon circle"/>
          <p:cNvSpPr/>
          <p:nvPr/>
        </p:nvSpPr>
        <p:spPr>
          <a:xfrm>
            <a:off x="5682996" y="2217420"/>
            <a:ext cx="822960" cy="82296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5" name="Balance icon" descr="Balanc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506" y="24149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CRITICAL DEPENDENCIES</a:t>
            </a:r>
            <a:endParaRPr lang="en-US" sz="1100" dirty="0"/>
          </a:p>
        </p:txBody>
      </p:sp>
      <p:sp>
        <p:nvSpPr>
          <p:cNvPr id="17" name="Dependency Functional Fit"/>
          <p:cNvSpPr/>
          <p:nvPr/>
        </p:nvSpPr>
        <p:spPr>
          <a:xfrm>
            <a:off x="548640" y="4315968"/>
            <a:ext cx="2670048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548640" y="4315968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Functional Fit</a:t>
            </a:r>
            <a:endParaRPr lang="en-US" sz="1400" dirty="0"/>
          </a:p>
        </p:txBody>
      </p:sp>
      <p:sp>
        <p:nvSpPr>
          <p:cNvPr id="19" name="Dependency Authorization &amp; Security"/>
          <p:cNvSpPr/>
          <p:nvPr/>
        </p:nvSpPr>
        <p:spPr>
          <a:xfrm>
            <a:off x="3355848" y="4315968"/>
            <a:ext cx="2670048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3355848" y="4315968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Authorization &amp; Security</a:t>
            </a:r>
            <a:endParaRPr lang="en-US" sz="1400" dirty="0"/>
          </a:p>
        </p:txBody>
      </p:sp>
      <p:sp>
        <p:nvSpPr>
          <p:cNvPr id="21" name="Dependency Change Management"/>
          <p:cNvSpPr/>
          <p:nvPr/>
        </p:nvSpPr>
        <p:spPr>
          <a:xfrm>
            <a:off x="6163056" y="4315968"/>
            <a:ext cx="2670048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163056" y="4315968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Change Management</a:t>
            </a:r>
            <a:endParaRPr lang="en-US" sz="1400" dirty="0"/>
          </a:p>
        </p:txBody>
      </p:sp>
      <p:sp>
        <p:nvSpPr>
          <p:cNvPr id="23" name="Dependency Performance Validation"/>
          <p:cNvSpPr/>
          <p:nvPr/>
        </p:nvSpPr>
        <p:spPr>
          <a:xfrm>
            <a:off x="8970264" y="4315968"/>
            <a:ext cx="2670048" cy="40233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970264" y="4315968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Performance Validation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480060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Note: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Opening a classic SAP GUI transaction through SAP Fiori Launchpad does not convert it into a native Fiori/UI5 application.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50474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a Fiori-First, GUI-When-Necessary Strategy.</a:t>
            </a:r>
            <a:endParaRPr lang="en-US" sz="2200" dirty="0"/>
          </a:p>
        </p:txBody>
      </p:sp>
      <p:sp>
        <p:nvSpPr>
          <p:cNvPr id="27" name="Takeaway strip"/>
          <p:cNvSpPr/>
          <p:nvPr/>
        </p:nvSpPr>
        <p:spPr>
          <a:xfrm>
            <a:off x="548640" y="5486400"/>
            <a:ext cx="11091672" cy="585216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22960" y="548640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LEADERSHIP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TAKEAWAY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2331720" y="5486400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Modernization should be driven by business value and functional readiness, not by replacing transactions for the sake of technology.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16305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Ref: SAP Help Portal, help.sap.com (SAP Fiori launchpad and SAP S/4HANA documentation)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 |  PROPOSED 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Phased, Business-Led Approach to SAP UX Modernization</a:t>
            </a:r>
            <a:endParaRPr lang="en-US" sz="2800" dirty="0"/>
          </a:p>
        </p:txBody>
      </p:sp>
      <p:sp>
        <p:nvSpPr>
          <p:cNvPr id="4" name="Phase header 1"/>
          <p:cNvSpPr/>
          <p:nvPr/>
        </p:nvSpPr>
        <p:spPr>
          <a:xfrm>
            <a:off x="548640" y="1371600"/>
            <a:ext cx="2745486" cy="457200"/>
          </a:xfrm>
          <a:prstGeom prst="homePlat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PHASE 1  |  ASSESS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2635758" cy="416052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084832"/>
            <a:ext cx="22699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Current-State Analysis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228828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Identify most-used GUI transactions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Gather GPO and user pain points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Baseline process KPIs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Prioritize Finance, Procurement, Sales, Supply Chain</a:t>
            </a:r>
            <a:endParaRPr lang="en-US" sz="1400" dirty="0"/>
          </a:p>
        </p:txBody>
      </p:sp>
      <p:sp>
        <p:nvSpPr>
          <p:cNvPr id="9" name="Output box 1"/>
          <p:cNvSpPr/>
          <p:nvPr/>
        </p:nvSpPr>
        <p:spPr>
          <a:xfrm>
            <a:off x="658368" y="5029200"/>
            <a:ext cx="2416302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5029200"/>
            <a:ext cx="21785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Prioritized opportunity backlog</a:t>
            </a:r>
            <a:endParaRPr lang="en-US" sz="1000" dirty="0"/>
          </a:p>
        </p:txBody>
      </p:sp>
      <p:sp>
        <p:nvSpPr>
          <p:cNvPr id="11" name="Phase header 2"/>
          <p:cNvSpPr/>
          <p:nvPr/>
        </p:nvSpPr>
        <p:spPr>
          <a:xfrm>
            <a:off x="3367278" y="1371600"/>
            <a:ext cx="2745486" cy="457200"/>
          </a:xfrm>
          <a:prstGeom prst="homePlat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50158" y="1371600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PHASE 2  |  VALIDATE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67278" y="1938528"/>
            <a:ext cx="2635758" cy="416052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550158" y="2084832"/>
            <a:ext cx="22699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Fit Assessment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50158" y="2697480"/>
            <a:ext cx="228828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 to standard Fiori apps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Evaluate gaps and prerequisites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Assess authorizations and integrations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Confirm feasibility with business and IT</a:t>
            </a:r>
            <a:endParaRPr lang="en-US" sz="1400" dirty="0"/>
          </a:p>
        </p:txBody>
      </p:sp>
      <p:sp>
        <p:nvSpPr>
          <p:cNvPr id="16" name="Output box 2"/>
          <p:cNvSpPr/>
          <p:nvPr/>
        </p:nvSpPr>
        <p:spPr>
          <a:xfrm>
            <a:off x="3477006" y="5029200"/>
            <a:ext cx="2416302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95878" y="5029200"/>
            <a:ext cx="21785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Validated migration candidates</a:t>
            </a:r>
            <a:endParaRPr lang="en-US" sz="1000" dirty="0"/>
          </a:p>
        </p:txBody>
      </p:sp>
      <p:sp>
        <p:nvSpPr>
          <p:cNvPr id="18" name="Phase header 3"/>
          <p:cNvSpPr/>
          <p:nvPr/>
        </p:nvSpPr>
        <p:spPr>
          <a:xfrm>
            <a:off x="6185916" y="1371600"/>
            <a:ext cx="2745486" cy="457200"/>
          </a:xfrm>
          <a:prstGeom prst="homePlate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68796" y="1371600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PHASE 3  |  PILOT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5916" y="1938528"/>
            <a:ext cx="2635758" cy="416052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68796" y="2084832"/>
            <a:ext cx="22699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Business Value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368796" y="2697480"/>
            <a:ext cx="228828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Select 2–3 high-value processes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current GUI and proposed Fiori workflows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Measure time, errors, steps and satisfaction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Collect GPO feedback</a:t>
            </a:r>
            <a:endParaRPr lang="en-US" sz="1400" dirty="0"/>
          </a:p>
        </p:txBody>
      </p:sp>
      <p:sp>
        <p:nvSpPr>
          <p:cNvPr id="23" name="Output box 3"/>
          <p:cNvSpPr/>
          <p:nvPr/>
        </p:nvSpPr>
        <p:spPr>
          <a:xfrm>
            <a:off x="6295644" y="5029200"/>
            <a:ext cx="2416302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14516" y="5029200"/>
            <a:ext cx="21785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Evidence-based business case</a:t>
            </a:r>
            <a:endParaRPr lang="en-US" sz="1000" dirty="0"/>
          </a:p>
        </p:txBody>
      </p:sp>
      <p:sp>
        <p:nvSpPr>
          <p:cNvPr id="25" name="Phase header 4"/>
          <p:cNvSpPr/>
          <p:nvPr/>
        </p:nvSpPr>
        <p:spPr>
          <a:xfrm>
            <a:off x="9004554" y="1371600"/>
            <a:ext cx="2635758" cy="457200"/>
          </a:xfrm>
          <a:prstGeom prst="homePlat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87434" y="1371600"/>
            <a:ext cx="2361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2"/>
                </a:solidFill>
              </a:rPr>
              <a:t>PHASE 4  |  SCALE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04554" y="1938528"/>
            <a:ext cx="2635758" cy="4160520"/>
          </a:xfrm>
          <a:prstGeom prst="roundRect">
            <a:avLst>
              <a:gd name="adj" fmla="val 2775"/>
            </a:avLst>
          </a:prstGeom>
          <a:solidFill>
            <a:schemeClr val="bg1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28600" dist="50800" dir="5400000">
              <a:srgbClr val="0B1F3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87434" y="2084832"/>
            <a:ext cx="22699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Adoption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187434" y="2697480"/>
            <a:ext cx="228828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Roll out approved apps by process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 users and manage change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 adoption and KPIs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Retain GUI where functionally needed</a:t>
            </a:r>
            <a:endParaRPr lang="en-US" sz="1400" dirty="0"/>
          </a:p>
        </p:txBody>
      </p:sp>
      <p:sp>
        <p:nvSpPr>
          <p:cNvPr id="30" name="Output box 4"/>
          <p:cNvSpPr/>
          <p:nvPr/>
        </p:nvSpPr>
        <p:spPr>
          <a:xfrm>
            <a:off x="9114282" y="5029200"/>
            <a:ext cx="2416302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3154" y="5029200"/>
            <a:ext cx="21785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OUTPUT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Scalable Fiori adoption roadmap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16305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Ref: SAP Fiori Apps Reference Library, fioriappslibrary.hana.ondemand.com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06  |  LEADERSHIP DECISION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Success Measures and the Approval Requested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 Scorecard</a:t>
            </a:r>
            <a:endParaRPr lang="en-US" sz="2000" dirty="0"/>
          </a:p>
        </p:txBody>
      </p:sp>
      <p:sp>
        <p:nvSpPr>
          <p:cNvPr id="5" name="KPI row 1"/>
          <p:cNvSpPr/>
          <p:nvPr/>
        </p:nvSpPr>
        <p:spPr>
          <a:xfrm>
            <a:off x="548640" y="1874520"/>
            <a:ext cx="5760720" cy="621792"/>
          </a:xfrm>
          <a:prstGeom prst="roundRect">
            <a:avLst>
              <a:gd name="adj" fmla="val 8824"/>
            </a:avLst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Process Efficiency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87452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Average time per transaction</a:t>
            </a:r>
            <a:endParaRPr lang="en-US" sz="1400" dirty="0"/>
          </a:p>
        </p:txBody>
      </p:sp>
      <p:sp>
        <p:nvSpPr>
          <p:cNvPr id="8" name="KPI row 2"/>
          <p:cNvSpPr/>
          <p:nvPr/>
        </p:nvSpPr>
        <p:spPr>
          <a:xfrm>
            <a:off x="548640" y="2578608"/>
            <a:ext cx="5760720" cy="621792"/>
          </a:xfrm>
          <a:prstGeom prst="roundRect">
            <a:avLst>
              <a:gd name="adj" fmla="val 8824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7860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User Experience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57860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User satisfaction and ease-of-use feedback</a:t>
            </a:r>
            <a:endParaRPr lang="en-US" sz="1400" dirty="0"/>
          </a:p>
        </p:txBody>
      </p:sp>
      <p:sp>
        <p:nvSpPr>
          <p:cNvPr id="11" name="KPI row 3"/>
          <p:cNvSpPr/>
          <p:nvPr/>
        </p:nvSpPr>
        <p:spPr>
          <a:xfrm>
            <a:off x="548640" y="3282696"/>
            <a:ext cx="5760720" cy="621792"/>
          </a:xfrm>
          <a:prstGeom prst="roundRect">
            <a:avLst>
              <a:gd name="adj" fmla="val 8824"/>
            </a:avLst>
          </a:prstGeom>
          <a:solidFill>
            <a:schemeClr val="accent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28269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Process Quality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28269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Error / rework frequency</a:t>
            </a:r>
            <a:endParaRPr lang="en-US" sz="1400" dirty="0"/>
          </a:p>
        </p:txBody>
      </p:sp>
      <p:sp>
        <p:nvSpPr>
          <p:cNvPr id="14" name="KPI row 4"/>
          <p:cNvSpPr/>
          <p:nvPr/>
        </p:nvSpPr>
        <p:spPr>
          <a:xfrm>
            <a:off x="548640" y="3986784"/>
            <a:ext cx="5760720" cy="621792"/>
          </a:xfrm>
          <a:prstGeom prst="roundRect">
            <a:avLst>
              <a:gd name="adj" fmla="val 8824"/>
            </a:avLst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9867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Adoption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398678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Active use of selected Fiori applications</a:t>
            </a:r>
            <a:endParaRPr lang="en-US" sz="1400" dirty="0"/>
          </a:p>
        </p:txBody>
      </p:sp>
      <p:sp>
        <p:nvSpPr>
          <p:cNvPr id="17" name="KPI row 5"/>
          <p:cNvSpPr/>
          <p:nvPr/>
        </p:nvSpPr>
        <p:spPr>
          <a:xfrm>
            <a:off x="548640" y="4690872"/>
            <a:ext cx="5760720" cy="621792"/>
          </a:xfrm>
          <a:prstGeom prst="roundRect">
            <a:avLst>
              <a:gd name="adj" fmla="val 8824"/>
            </a:avLst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908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Standardization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69087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Fewer unnecessary custom or duplicate interfaces</a:t>
            </a:r>
            <a:endParaRPr lang="en-US" sz="1400" dirty="0"/>
          </a:p>
        </p:txBody>
      </p:sp>
      <p:sp>
        <p:nvSpPr>
          <p:cNvPr id="20" name="Approval card"/>
          <p:cNvSpPr/>
          <p:nvPr/>
        </p:nvSpPr>
        <p:spPr>
          <a:xfrm>
            <a:off x="6675120" y="1371600"/>
            <a:ext cx="4965192" cy="3959352"/>
          </a:xfrm>
          <a:prstGeom prst="roundRect">
            <a:avLst>
              <a:gd name="adj" fmla="val 2309"/>
            </a:avLst>
          </a:prstGeom>
          <a:solidFill>
            <a:schemeClr val="bg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95160" y="1600200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APPROVAL REQUESTED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1920240"/>
            <a:ext cx="4325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Initiate a GPO-led assessment and targeted Fiori pilot across high-value SAP business processes.</a:t>
            </a:r>
            <a:endParaRPr lang="en-US" sz="1900" dirty="0"/>
          </a:p>
        </p:txBody>
      </p:sp>
      <p:sp>
        <p:nvSpPr>
          <p:cNvPr id="23" name="Ask number 1"/>
          <p:cNvSpPr/>
          <p:nvPr/>
        </p:nvSpPr>
        <p:spPr>
          <a:xfrm>
            <a:off x="6995160" y="325526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9516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3200400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Nominate GPO representatives from priority business functions</a:t>
            </a:r>
            <a:endParaRPr lang="en-US" sz="1400" dirty="0"/>
          </a:p>
        </p:txBody>
      </p:sp>
      <p:sp>
        <p:nvSpPr>
          <p:cNvPr id="26" name="Ask number 2"/>
          <p:cNvSpPr/>
          <p:nvPr/>
        </p:nvSpPr>
        <p:spPr>
          <a:xfrm>
            <a:off x="6995160" y="394106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9516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886200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 2–3 candidate processes for evaluation</a:t>
            </a:r>
            <a:endParaRPr lang="en-US" sz="1400" dirty="0"/>
          </a:p>
        </p:txBody>
      </p:sp>
      <p:sp>
        <p:nvSpPr>
          <p:cNvPr id="29" name="Ask number 3"/>
          <p:cNvSpPr/>
          <p:nvPr/>
        </p:nvSpPr>
        <p:spPr>
          <a:xfrm>
            <a:off x="6995160" y="4626864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95160" y="4626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4572000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Agree on pilot success criteria before implementation</a:t>
            </a:r>
            <a:endParaRPr lang="en-US" sz="1400" dirty="0"/>
          </a:p>
        </p:txBody>
      </p:sp>
      <p:sp>
        <p:nvSpPr>
          <p:cNvPr id="32" name="Takeaway strip"/>
          <p:cNvSpPr/>
          <p:nvPr/>
        </p:nvSpPr>
        <p:spPr>
          <a:xfrm>
            <a:off x="548640" y="5486400"/>
            <a:ext cx="11091672" cy="585216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548640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LEADERSHIP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TAKEAWAY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331720" y="5486400"/>
            <a:ext cx="9144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Modernize where it delivers value. Retain what works. Build a simpler, more productive SAP experience.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Gold">
  <a:themeElements>
    <a:clrScheme name="Midnight Gold">
      <a:dk1>
        <a:srgbClr val="1B2434"/>
      </a:dk1>
      <a:lt1>
        <a:srgbClr val="FFFFFF"/>
      </a:lt1>
      <a:dk2>
        <a:srgbClr val="0B1F3A"/>
      </a:dk2>
      <a:lt2>
        <a:srgbClr val="F4F6F9"/>
      </a:lt2>
      <a:accent1>
        <a:srgbClr val="9C7425"/>
      </a:accent1>
      <a:accent2>
        <a:srgbClr val="D9B65F"/>
      </a:accent2>
      <a:accent3>
        <a:srgbClr val="1F7A8C"/>
      </a:accent3>
      <a:accent4>
        <a:srgbClr val="5B6B82"/>
      </a:accent4>
      <a:accent5>
        <a:srgbClr val="13294B"/>
      </a:accent5>
      <a:accent6>
        <a:srgbClr val="8FA3BF"/>
      </a:accent6>
      <a:hlink>
        <a:srgbClr val="1F7A8C"/>
      </a:hlink>
      <a:folHlink>
        <a:srgbClr val="5B6B82"/>
      </a:folHlink>
    </a:clrScheme>
    <a:fontScheme name="Midnight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SAP Business Processes: From SAP GUI to SAP Fiori</dc:title>
  <dc:subject>SAP GUI to SAP Fiori modernization</dc:subject>
  <dc:creator>PptxGenJS</dc:creator>
  <cp:lastModifiedBy>PptxGenJS</cp:lastModifiedBy>
  <cp:revision>1</cp:revision>
  <dcterms:created xsi:type="dcterms:W3CDTF">2026-10-21T14:15:56Z</dcterms:created>
  <dcterms:modified xsi:type="dcterms:W3CDTF">2026-10-21T14:15:56Z</dcterms:modified>
</cp:coreProperties>
</file>