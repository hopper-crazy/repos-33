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0B2B54"/>
          </a:solidFill>
          <a:ln w="12700">
            <a:solidFill>
              <a:srgbClr val="0B2B5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6812280" y="-1325880"/>
            <a:ext cx="5486400" cy="5486400"/>
          </a:xfrm>
          <a:prstGeom prst="arc">
            <a:avLst/>
          </a:prstGeom>
          <a:solidFill>
            <a:srgbClr val="103F71">
              <a:alpha val="80000"/>
            </a:srgbClr>
          </a:solidFill>
          <a:ln w="12700">
            <a:solidFill>
              <a:srgbClr val="103F71">
                <a:alpha val="0"/>
              </a:srgbClr>
            </a:solidFill>
            <a:prstDash val="solid"/>
          </a:ln>
        </p:spPr>
      </p:sp>
      <p:pic>
        <p:nvPicPr>
          <p:cNvPr id="5" name="Image 0" descr="/mnt/data/MKC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384048"/>
            <a:ext cx="585216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521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McCormick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94360" y="1033272"/>
            <a:ext cx="10927080" cy="0"/>
          </a:xfrm>
          <a:prstGeom prst="line">
            <a:avLst/>
          </a:prstGeom>
          <a:noFill/>
          <a:ln w="12700">
            <a:solidFill>
              <a:srgbClr val="3055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63040"/>
            <a:ext cx="2606040" cy="274320"/>
          </a:xfrm>
          <a:prstGeom prst="roundRect">
            <a:avLst>
              <a:gd name="adj" fmla="val 43333"/>
            </a:avLst>
          </a:prstGeom>
          <a:solidFill>
            <a:srgbClr val="153C62"/>
          </a:solidFill>
          <a:ln w="12700">
            <a:solidFill>
              <a:srgbClr val="153C6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517904"/>
            <a:ext cx="2478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D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SAP ENGINEERING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" y="1938528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0" b="1" spc="3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5500" dirty="0"/>
          </a:p>
        </p:txBody>
      </p:sp>
      <p:sp>
        <p:nvSpPr>
          <p:cNvPr id="11" name="Text 8"/>
          <p:cNvSpPr/>
          <p:nvPr/>
        </p:nvSpPr>
        <p:spPr>
          <a:xfrm>
            <a:off x="667512" y="2962656"/>
            <a:ext cx="6949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Program Inspection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Code Evaluation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67512" y="4123944"/>
            <a:ext cx="91440" cy="566928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4151376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E7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Reviews. Stronger Governance. Faster Delivery.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366760" y="1645920"/>
            <a:ext cx="2971800" cy="3154680"/>
          </a:xfrm>
          <a:prstGeom prst="roundRect">
            <a:avLst>
              <a:gd name="adj" fmla="val 6154"/>
            </a:avLst>
          </a:prstGeom>
          <a:solidFill>
            <a:srgbClr val="0D355F"/>
          </a:solidFill>
          <a:ln w="11430">
            <a:solidFill>
              <a:srgbClr val="2A56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1947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B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REVIEW EXPERIENCE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95360" y="2468880"/>
            <a:ext cx="2487168" cy="402336"/>
          </a:xfrm>
          <a:prstGeom prst="roundRect">
            <a:avLst>
              <a:gd name="adj" fmla="val 20455"/>
            </a:avLst>
          </a:prstGeom>
          <a:solidFill>
            <a:srgbClr val="17446F"/>
          </a:solidFill>
          <a:ln w="11430">
            <a:solidFill>
              <a:srgbClr val="3B628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0" y="2596896"/>
            <a:ext cx="120701" cy="120701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15984" y="2569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Objects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95360" y="2971800"/>
            <a:ext cx="2487168" cy="402336"/>
          </a:xfrm>
          <a:prstGeom prst="roundRect">
            <a:avLst>
              <a:gd name="adj" fmla="val 20455"/>
            </a:avLst>
          </a:prstGeom>
          <a:solidFill>
            <a:srgbClr val="17446F"/>
          </a:solidFill>
          <a:ln w="11430">
            <a:solidFill>
              <a:srgbClr val="3B628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0" y="3099816"/>
            <a:ext cx="120701" cy="120701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15984" y="3072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6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ABAP Source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95360" y="3474720"/>
            <a:ext cx="2487168" cy="402336"/>
          </a:xfrm>
          <a:prstGeom prst="roundRect">
            <a:avLst>
              <a:gd name="adj" fmla="val 20455"/>
            </a:avLst>
          </a:prstGeom>
          <a:solidFill>
            <a:srgbClr val="17446F"/>
          </a:solidFill>
          <a:ln w="11430">
            <a:solidFill>
              <a:srgbClr val="3B628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0" y="3602736"/>
            <a:ext cx="120701" cy="120701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15984" y="35753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D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ATC Checks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595360" y="3977640"/>
            <a:ext cx="2487168" cy="402336"/>
          </a:xfrm>
          <a:prstGeom prst="roundRect">
            <a:avLst>
              <a:gd name="adj" fmla="val 20455"/>
            </a:avLst>
          </a:prstGeom>
          <a:solidFill>
            <a:srgbClr val="17446F"/>
          </a:solidFill>
          <a:ln w="11430">
            <a:solidFill>
              <a:srgbClr val="3B628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78240" y="4105656"/>
            <a:ext cx="120701" cy="120701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15984" y="4078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9E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AI Core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790688" y="3200400"/>
            <a:ext cx="484632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40080" y="5577840"/>
            <a:ext cx="2679192" cy="548640"/>
          </a:xfrm>
          <a:prstGeom prst="roundRect">
            <a:avLst>
              <a:gd name="adj" fmla="val 20000"/>
            </a:avLst>
          </a:prstGeom>
          <a:solidFill>
            <a:srgbClr val="12375D"/>
          </a:solidFill>
          <a:ln w="11430">
            <a:solidFill>
              <a:srgbClr val="3A567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71500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5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43000" y="56967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Analysis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502152" y="5577840"/>
            <a:ext cx="2679192" cy="548640"/>
          </a:xfrm>
          <a:prstGeom prst="roundRect">
            <a:avLst>
              <a:gd name="adj" fmla="val 20000"/>
            </a:avLst>
          </a:prstGeom>
          <a:solidFill>
            <a:srgbClr val="12375D"/>
          </a:solidFill>
          <a:ln w="11430">
            <a:solidFill>
              <a:srgbClr val="3A567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39312" y="571500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5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005072" y="56967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Inspection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364224" y="5577840"/>
            <a:ext cx="2679192" cy="548640"/>
          </a:xfrm>
          <a:prstGeom prst="roundRect">
            <a:avLst>
              <a:gd name="adj" fmla="val 20000"/>
            </a:avLst>
          </a:prstGeom>
          <a:solidFill>
            <a:srgbClr val="12375D"/>
          </a:solidFill>
          <a:ln w="11430">
            <a:solidFill>
              <a:srgbClr val="3A567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01384" y="571500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5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67144" y="56967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ATC Integration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226296" y="5577840"/>
            <a:ext cx="2679192" cy="548640"/>
          </a:xfrm>
          <a:prstGeom prst="roundRect">
            <a:avLst>
              <a:gd name="adj" fmla="val 20000"/>
            </a:avLst>
          </a:prstGeom>
          <a:solidFill>
            <a:srgbClr val="12375D"/>
          </a:solidFill>
          <a:ln w="11430">
            <a:solidFill>
              <a:srgbClr val="3A567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63456" y="571500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5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729216" y="56967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Review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CA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 /  SAP Program Inspection and Code Evaluation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881360" y="65288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A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Transforming SAP Code Review Efficiency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07592"/>
            <a:ext cx="11082528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 /  SAP Program Inspection and Code Evaluation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81360" y="65288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143560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fragmented manual reviews to a unified, evidence-led experience.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1856232"/>
            <a:ext cx="3300984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928" y="1856232"/>
            <a:ext cx="4041648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1856232"/>
            <a:ext cx="3465576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2075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532888"/>
            <a:ext cx="64008" cy="64008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24505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6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transport and object data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822960" y="2843784"/>
            <a:ext cx="64008" cy="64008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2761488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6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source code manually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822960" y="3154680"/>
            <a:ext cx="64008" cy="64008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3072384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6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between ATC and SAP tools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822960" y="3465576"/>
            <a:ext cx="64008" cy="64008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338328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6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review depth and capacity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4270248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UNIFIED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79392" y="2633472"/>
            <a:ext cx="1042416" cy="804672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724912"/>
            <a:ext cx="283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9976" y="300837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evidence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5349240" y="3017520"/>
            <a:ext cx="82296" cy="0"/>
          </a:xfrm>
          <a:prstGeom prst="line">
            <a:avLst/>
          </a:prstGeom>
          <a:noFill/>
          <a:ln w="20955">
            <a:solidFill>
              <a:srgbClr val="005A9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40680" y="2633472"/>
            <a:ext cx="1042416" cy="804672"/>
          </a:xfrm>
          <a:prstGeom prst="roundRect">
            <a:avLst>
              <a:gd name="adj" fmla="val 13636"/>
            </a:avLst>
          </a:prstGeom>
          <a:solidFill>
            <a:srgbClr val="EAF3FA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2724912"/>
            <a:ext cx="283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41264" y="300837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ATC + AI insights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510528" y="3017520"/>
            <a:ext cx="82296" cy="0"/>
          </a:xfrm>
          <a:prstGeom prst="line">
            <a:avLst/>
          </a:prstGeom>
          <a:noFill/>
          <a:ln w="20955">
            <a:solidFill>
              <a:srgbClr val="005A9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01968" y="2633472"/>
            <a:ext cx="1042416" cy="804672"/>
          </a:xfrm>
          <a:prstGeom prst="roundRect">
            <a:avLst>
              <a:gd name="adj" fmla="val 13636"/>
            </a:avLst>
          </a:prstGeom>
          <a:solidFill>
            <a:srgbClr val="F2F6FB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2724912"/>
            <a:ext cx="283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02552" y="3008376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decision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8412480" y="2084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21624" y="2505456"/>
            <a:ext cx="2852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reviews with consistent evidence, actionable recommendations and reviewer-controlled approval.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66928" y="4251960"/>
            <a:ext cx="3547872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4453128"/>
            <a:ext cx="3054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3.75–4.5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804672" y="497433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saved / transport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15968" y="4251960"/>
            <a:ext cx="3547872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4453128"/>
            <a:ext cx="3054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~40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4553712" y="497433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transports / month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65008" y="4251960"/>
            <a:ext cx="3547872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3608" y="4453128"/>
            <a:ext cx="3054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150–180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8302752" y="497433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reclaimed / month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55778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" y="5733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~1,800–2,160 estimated reviewer hours annually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354312" y="578815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5E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validation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Workspace. Connected Enterprise Architecture.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07592"/>
            <a:ext cx="11082528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 /  SAP Program Inspection and Code Evaluation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81360" y="65288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42646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review experience across transport objects, SAP checks and structured AI recommendations.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1865376"/>
            <a:ext cx="5586984" cy="3547872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pic>
        <p:nvPicPr>
          <p:cNvPr id="11" name="Image 0" descr="/mnt/data/SPICE SAP Code Review Dashboard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21408"/>
            <a:ext cx="5257800" cy="29626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3232" y="5193792"/>
            <a:ext cx="1481328" cy="274320"/>
          </a:xfrm>
          <a:prstGeom prst="roundRect">
            <a:avLst>
              <a:gd name="adj" fmla="val 43333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248656"/>
            <a:ext cx="1353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VIEWER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13432" y="5193792"/>
            <a:ext cx="1417320" cy="274320"/>
          </a:xfrm>
          <a:prstGeom prst="roundRect">
            <a:avLst>
              <a:gd name="adj" fmla="val 43333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5248656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ATC RESULTS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40480" y="5193792"/>
            <a:ext cx="1874520" cy="274320"/>
          </a:xfrm>
          <a:prstGeom prst="roundRect">
            <a:avLst>
              <a:gd name="adj" fmla="val 43333"/>
            </a:avLst>
          </a:prstGeom>
          <a:solidFill>
            <a:srgbClr val="FBE8EC"/>
          </a:solidFill>
          <a:ln w="12700">
            <a:solidFill>
              <a:srgbClr val="FBE8E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04488" y="5248656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RECOMMENDATIONS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82512" y="1901952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FLOW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82512" y="2267712"/>
            <a:ext cx="5212080" cy="530352"/>
          </a:xfrm>
          <a:prstGeom prst="roundRect">
            <a:avLst>
              <a:gd name="adj" fmla="val 18966"/>
            </a:avLst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2404872"/>
            <a:ext cx="4800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 •  Tailwind CSS  •  Monaco Editor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70264" y="2807208"/>
            <a:ext cx="0" cy="246888"/>
          </a:xfrm>
          <a:prstGeom prst="line">
            <a:avLst/>
          </a:prstGeom>
          <a:noFill/>
          <a:ln w="20955">
            <a:solidFill>
              <a:srgbClr val="005A9C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976872" y="3063240"/>
            <a:ext cx="4032504" cy="484632"/>
          </a:xfrm>
          <a:prstGeom prst="roundRect">
            <a:avLst>
              <a:gd name="adj" fmla="val 18868"/>
            </a:avLst>
          </a:prstGeom>
          <a:solidFill>
            <a:srgbClr val="005A9C"/>
          </a:solidFill>
          <a:ln w="12700">
            <a:solidFill>
              <a:srgbClr val="005A9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23176" y="3191256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FastAPI  /  Integration Layer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744968" y="3557016"/>
            <a:ext cx="0" cy="246888"/>
          </a:xfrm>
          <a:prstGeom prst="line">
            <a:avLst/>
          </a:prstGeom>
          <a:noFill/>
          <a:ln w="21590">
            <a:solidFill>
              <a:srgbClr val="005A9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13848" y="3557016"/>
            <a:ext cx="0" cy="246888"/>
          </a:xfrm>
          <a:prstGeom prst="line">
            <a:avLst/>
          </a:prstGeom>
          <a:noFill/>
          <a:ln w="21590">
            <a:solidFill>
              <a:srgbClr val="005A9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2512" y="3803904"/>
            <a:ext cx="2551176" cy="969264"/>
          </a:xfrm>
          <a:prstGeom prst="roundRect">
            <a:avLst>
              <a:gd name="adj" fmla="val 10377"/>
            </a:avLst>
          </a:prstGeom>
          <a:solidFill>
            <a:srgbClr val="EAF3FA"/>
          </a:solidFill>
          <a:ln w="11430">
            <a:solidFill>
              <a:srgbClr val="C1D8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43416" y="3803904"/>
            <a:ext cx="2551176" cy="969264"/>
          </a:xfrm>
          <a:prstGeom prst="roundRect">
            <a:avLst>
              <a:gd name="adj" fmla="val 10377"/>
            </a:avLst>
          </a:prstGeom>
          <a:solidFill>
            <a:srgbClr val="FBE8EC"/>
          </a:solidFill>
          <a:ln w="11430">
            <a:solidFill>
              <a:srgbClr val="ECC6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3968496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ADT APIs + ATC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01384" y="43708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destinations • SAP evidence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171432" y="3968496"/>
            <a:ext cx="2295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AI Core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171432" y="4370832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 • AI findings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82512" y="5029200"/>
            <a:ext cx="5212080" cy="594360"/>
          </a:xfrm>
          <a:prstGeom prst="roundRect">
            <a:avLst>
              <a:gd name="adj" fmla="val 16923"/>
            </a:avLst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56248" y="5193792"/>
            <a:ext cx="4855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consolidation  →  SPICE dashboard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85216" y="5788152"/>
            <a:ext cx="11009376" cy="429768"/>
          </a:xfrm>
          <a:prstGeom prst="roundRect">
            <a:avLst>
              <a:gd name="adj" fmla="val 17021"/>
            </a:avLst>
          </a:prstGeom>
          <a:solidFill>
            <a:srgbClr val="EFF4F9"/>
          </a:solidFill>
          <a:ln w="12700">
            <a:solidFill>
              <a:srgbClr val="EFF4F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8096" y="5907024"/>
            <a:ext cx="10643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Human-led decisions  •  Backend-held AI credentials  •  No RAG in Phase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Reviews with SAP AI Core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07592"/>
            <a:ext cx="11082528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 /  SAP Program Inspection and Code Evaluation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81360" y="65288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4447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evidence flows through FastAPI to SAP AI Core; people retain approval authority.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1892808"/>
            <a:ext cx="21762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0574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+ ATC 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9776" y="2194560"/>
            <a:ext cx="146304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44368" y="1892808"/>
            <a:ext cx="21762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20574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review request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38928" y="2194560"/>
            <a:ext cx="146304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03520" y="1892808"/>
            <a:ext cx="2176272" cy="594360"/>
          </a:xfrm>
          <a:prstGeom prst="roundRect">
            <a:avLst>
              <a:gd name="adj" fmla="val 16923"/>
            </a:avLst>
          </a:prstGeom>
          <a:solidFill>
            <a:srgbClr val="071F41"/>
          </a:solidFill>
          <a:ln w="11430">
            <a:solidFill>
              <a:srgbClr val="071F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0574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AI 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2194560"/>
            <a:ext cx="146304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62672" y="1892808"/>
            <a:ext cx="21762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0574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findings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57232" y="2194560"/>
            <a:ext cx="146304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21824" y="1892808"/>
            <a:ext cx="2176272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58984" y="205740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276148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DIMENSIONS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136392"/>
            <a:ext cx="2139696" cy="274320"/>
          </a:xfrm>
          <a:prstGeom prst="roundRect">
            <a:avLst>
              <a:gd name="adj" fmla="val 43333"/>
            </a:avLst>
          </a:prstGeom>
          <a:solidFill>
            <a:srgbClr val="F2F6FB"/>
          </a:solidFill>
          <a:ln w="12700">
            <a:solidFill>
              <a:srgbClr val="F2F6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1912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3136392"/>
            <a:ext cx="2139696" cy="274320"/>
          </a:xfrm>
          <a:prstGeom prst="roundRect">
            <a:avLst>
              <a:gd name="adj" fmla="val 43333"/>
            </a:avLst>
          </a:prstGeom>
          <a:solidFill>
            <a:srgbClr val="F2F6FB"/>
          </a:solidFill>
          <a:ln w="12700">
            <a:solidFill>
              <a:srgbClr val="F2F6F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0088" y="31912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3136392"/>
            <a:ext cx="2139696" cy="274320"/>
          </a:xfrm>
          <a:prstGeom prst="roundRect">
            <a:avLst>
              <a:gd name="adj" fmla="val 43333"/>
            </a:avLst>
          </a:prstGeom>
          <a:solidFill>
            <a:srgbClr val="F2F6FB"/>
          </a:solidFill>
          <a:ln w="12700">
            <a:solidFill>
              <a:srgbClr val="F2F6F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31912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3136392"/>
            <a:ext cx="2139696" cy="274320"/>
          </a:xfrm>
          <a:prstGeom prst="roundRect">
            <a:avLst>
              <a:gd name="adj" fmla="val 43333"/>
            </a:avLst>
          </a:prstGeom>
          <a:solidFill>
            <a:srgbClr val="F2F6FB"/>
          </a:solidFill>
          <a:ln w="12700">
            <a:solidFill>
              <a:srgbClr val="F2F6F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528" y="31912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21240" y="3136392"/>
            <a:ext cx="2139696" cy="274320"/>
          </a:xfrm>
          <a:prstGeom prst="roundRect">
            <a:avLst>
              <a:gd name="adj" fmla="val 43333"/>
            </a:avLst>
          </a:prstGeom>
          <a:solidFill>
            <a:srgbClr val="F2F6FB"/>
          </a:solidFill>
          <a:ln w="12700">
            <a:solidFill>
              <a:srgbClr val="F2F6F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85248" y="31912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776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CONSUMPTION  /  40 TRANSPORTS PER MONTH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151376"/>
            <a:ext cx="2679192" cy="1289304"/>
          </a:xfrm>
          <a:prstGeom prst="roundRect">
            <a:avLst>
              <a:gd name="adj" fmla="val 9220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" y="458114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~17K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856232" y="4681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/ TR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8096" y="506577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~680K monthly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56432" y="4151376"/>
            <a:ext cx="2679192" cy="1289304"/>
          </a:xfrm>
          <a:prstGeom prst="roundRect">
            <a:avLst>
              <a:gd name="adj" fmla="val 9220"/>
            </a:avLst>
          </a:prstGeom>
          <a:solidFill>
            <a:srgbClr val="FFFFFF"/>
          </a:solidFill>
          <a:ln w="11430">
            <a:solidFill>
              <a:srgbClr val="D719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21024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21024" y="458114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~45K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718304" y="4681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/ TR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30168" y="506577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~1.8M monthly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18504" y="4151376"/>
            <a:ext cx="2679192" cy="1289304"/>
          </a:xfrm>
          <a:prstGeom prst="roundRect">
            <a:avLst>
              <a:gd name="adj" fmla="val 9220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83096" y="4581144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~88K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580376" y="46817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/ TR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506577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~3.52M monthly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272016" y="4151376"/>
            <a:ext cx="2331720" cy="1289304"/>
          </a:xfrm>
          <a:prstGeom prst="roundRect">
            <a:avLst>
              <a:gd name="adj" fmla="val 8511"/>
            </a:avLst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91472" y="43342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FD5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COST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473184" y="4599432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~$7.80</a:t>
            </a:r>
            <a:endParaRPr lang="en-US" sz="2900" dirty="0"/>
          </a:p>
        </p:txBody>
      </p:sp>
      <p:sp>
        <p:nvSpPr>
          <p:cNvPr id="54" name="Text 52"/>
          <p:cNvSpPr/>
          <p:nvPr/>
        </p:nvSpPr>
        <p:spPr>
          <a:xfrm>
            <a:off x="9500616" y="511149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F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month  |  illustrative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4360" y="5623560"/>
            <a:ext cx="11009376" cy="612648"/>
          </a:xfrm>
          <a:prstGeom prst="roundRect">
            <a:avLst>
              <a:gd name="adj" fmla="val 11940"/>
            </a:avLst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" y="5769864"/>
            <a:ext cx="10634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Model-provider planning estimates only; SAP AI Core entitlements, AI Units, model access and BTP charges require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Code Review to Intelligent SAP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07592"/>
            <a:ext cx="11082528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 /  SAP Program Inspection and Code Evaluation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81360" y="652881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44475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phased vision — current architecture first; future opportunities subject to assessment and approval.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176272" cy="267919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1430">
            <a:solidFill>
              <a:srgbClr val="071F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94560"/>
            <a:ext cx="2176272" cy="2679192"/>
          </a:xfrm>
          <a:prstGeom prst="roundRect">
            <a:avLst>
              <a:gd name="adj" fmla="val 5042"/>
            </a:avLst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350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D7193F"/>
          </a:solidFill>
          <a:ln w="12700">
            <a:solidFill>
              <a:srgbClr val="D7193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48351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" y="298094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SPICE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" y="3355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B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" y="3767328"/>
            <a:ext cx="1837944" cy="0"/>
          </a:xfrm>
          <a:prstGeom prst="line">
            <a:avLst/>
          </a:prstGeom>
          <a:noFill/>
          <a:ln w="12700">
            <a:solidFill>
              <a:srgbClr val="3957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97764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B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• ADT • ATC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8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AI Core • Human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15768" y="3520440"/>
            <a:ext cx="164592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89504" y="2194560"/>
            <a:ext cx="2176272" cy="267919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4952" y="2350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0964" y="248351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35808" y="298094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35808" y="3355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opportunity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44952" y="3767328"/>
            <a:ext cx="1837944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397764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HANA Cloud • Standards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review insights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56632" y="3520440"/>
            <a:ext cx="164592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30368" y="2194560"/>
            <a:ext cx="2176272" cy="267919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85816" y="2350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1828" y="248351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76672" y="298094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DEVELOPMENT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76672" y="3355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opportunity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85816" y="3767328"/>
            <a:ext cx="1837944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397764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ABAP / RAP / CDS assistance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 • Unit tests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97496" y="3520440"/>
            <a:ext cx="164592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71232" y="2194560"/>
            <a:ext cx="2176272" cy="267919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2350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22692" y="248351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17536" y="298094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17536" y="3355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opportunity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26680" y="3767328"/>
            <a:ext cx="1837944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17536" y="397764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review triggers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gates • Auditability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738360" y="3520440"/>
            <a:ext cx="164592" cy="0"/>
          </a:xfrm>
          <a:prstGeom prst="line">
            <a:avLst/>
          </a:prstGeom>
          <a:noFill/>
          <a:ln w="20955">
            <a:solidFill>
              <a:srgbClr val="D7193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912096" y="2194560"/>
            <a:ext cx="2176272" cy="267919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1430">
            <a:solidFill>
              <a:srgbClr val="E6EB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67544" y="2350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AF3FA"/>
          </a:solidFill>
          <a:ln w="12700">
            <a:solidFill>
              <a:srgbClr val="EAF3F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63556" y="248351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58400" y="298094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SAP AI ASSISTANT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058400" y="33558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5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opportunity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67544" y="3767328"/>
            <a:ext cx="1837944" cy="0"/>
          </a:xfrm>
          <a:prstGeom prst="line">
            <a:avLst/>
          </a:prstGeom>
          <a:noFill/>
          <a:ln w="12700">
            <a:solidFill>
              <a:srgbClr val="E6EB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0" y="397764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• Dependency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Multi-step workflows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6072" y="5212080"/>
            <a:ext cx="3630168" cy="658368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32180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" y="5614416"/>
            <a:ext cx="3264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repetitive work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70832" y="5212080"/>
            <a:ext cx="3630168" cy="658368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532180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07992" y="5614416"/>
            <a:ext cx="3264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risk visibility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165592" y="5212080"/>
            <a:ext cx="3630168" cy="658368"/>
          </a:xfrm>
          <a:prstGeom prst="roundRect">
            <a:avLst>
              <a:gd name="adj" fmla="val 13889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21040" y="532180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71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302752" y="5614416"/>
            <a:ext cx="3264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F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Human-controlled decisions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solidFill>
            <a:srgbClr val="071F41"/>
          </a:solidFill>
          <a:ln w="12700">
            <a:solidFill>
              <a:srgbClr val="071F41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6190488"/>
            <a:ext cx="11018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 —  Review Evidence. Surface Actionable Insights. Keep Human Judgment at the Center.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McCormick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SPICE | Intelligent SAP Code Review</dc:title>
  <dc:subject>SPICE executive overview</dc:subject>
  <dc:creator>OpenAI</dc:creator>
  <cp:lastModifiedBy>OpenAI</cp:lastModifiedBy>
  <cp:revision>1</cp:revision>
  <dcterms:created xsi:type="dcterms:W3CDTF">2026-10-15T17:16:49Z</dcterms:created>
  <dcterms:modified xsi:type="dcterms:W3CDTF">2026-10-15T17:16:49Z</dcterms:modified>
</cp:coreProperties>
</file>