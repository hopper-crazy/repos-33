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Relationship Id="rId8" Type="http://schemas.openxmlformats.org/officeDocument/2006/relationships/image" Target="../media/image23.png"/><Relationship Id="rId9" Type="http://schemas.openxmlformats.org/officeDocument/2006/relationships/image" Target="../media/image24.png"/><Relationship Id="rId10" Type="http://schemas.openxmlformats.org/officeDocument/2006/relationships/image" Target="../media/image25.png"/><Relationship Id="rId11" Type="http://schemas.openxmlformats.org/officeDocument/2006/relationships/image" Target="../media/image26.png"/><Relationship Id="rId12" Type="http://schemas.openxmlformats.org/officeDocument/2006/relationships/image" Target="../media/image27.png"/><Relationship Id="rId13" Type="http://schemas.openxmlformats.org/officeDocument/2006/relationships/image" Target="../media/image28.png"/><Relationship Id="rId14" Type="http://schemas.openxmlformats.org/officeDocument/2006/relationships/image" Target="../media/image29.png"/><Relationship Id="rId15" Type="http://schemas.openxmlformats.org/officeDocument/2006/relationships/image" Target="../media/image30.png"/><Relationship Id="rId16" Type="http://schemas.openxmlformats.org/officeDocument/2006/relationships/image" Target="../media/image31.png"/><Relationship Id="rId17" Type="http://schemas.openxmlformats.org/officeDocument/2006/relationships/image" Target="../media/image3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6.png"/><Relationship Id="rId6" Type="http://schemas.openxmlformats.org/officeDocument/2006/relationships/image" Target="../media/image37.png"/><Relationship Id="rId7" Type="http://schemas.openxmlformats.org/officeDocument/2006/relationships/image" Target="../media/image38.png"/><Relationship Id="rId8" Type="http://schemas.openxmlformats.org/officeDocument/2006/relationships/image" Target="../media/image39.png"/><Relationship Id="rId9" Type="http://schemas.openxmlformats.org/officeDocument/2006/relationships/image" Target="../media/image40.png"/><Relationship Id="rId10" Type="http://schemas.openxmlformats.org/officeDocument/2006/relationships/image" Target="../media/image25.png"/><Relationship Id="rId11" Type="http://schemas.openxmlformats.org/officeDocument/2006/relationships/image" Target="../media/image41.png"/><Relationship Id="rId12" Type="http://schemas.openxmlformats.org/officeDocument/2006/relationships/image" Target="../media/image42.png"/><Relationship Id="rId13" Type="http://schemas.openxmlformats.org/officeDocument/2006/relationships/image" Target="../media/image43.png"/><Relationship Id="rId14" Type="http://schemas.openxmlformats.org/officeDocument/2006/relationships/image" Target="../media/image44.png"/><Relationship Id="rId15" Type="http://schemas.openxmlformats.org/officeDocument/2006/relationships/image" Target="../media/image45.png"/><Relationship Id="rId16" Type="http://schemas.openxmlformats.org/officeDocument/2006/relationships/image" Target="../media/image46.png"/><Relationship Id="rId17" Type="http://schemas.openxmlformats.org/officeDocument/2006/relationships/image" Target="../media/image47.png"/><Relationship Id="rId18" Type="http://schemas.openxmlformats.org/officeDocument/2006/relationships/image" Target="../media/image48.png"/><Relationship Id="rId19" Type="http://schemas.openxmlformats.org/officeDocument/2006/relationships/image" Target="../media/image49.png"/><Relationship Id="rId20" Type="http://schemas.openxmlformats.org/officeDocument/2006/relationships/image" Target="../media/image5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png"/><Relationship Id="rId3" Type="http://schemas.openxmlformats.org/officeDocument/2006/relationships/image" Target="../media/image52.png"/><Relationship Id="rId4" Type="http://schemas.openxmlformats.org/officeDocument/2006/relationships/image" Target="../media/image53.png"/><Relationship Id="rId5" Type="http://schemas.openxmlformats.org/officeDocument/2006/relationships/image" Target="../media/image54.png"/><Relationship Id="rId6" Type="http://schemas.openxmlformats.org/officeDocument/2006/relationships/image" Target="../media/image55.png"/><Relationship Id="rId7" Type="http://schemas.openxmlformats.org/officeDocument/2006/relationships/image" Target="../media/image56.png"/><Relationship Id="rId8" Type="http://schemas.openxmlformats.org/officeDocument/2006/relationships/image" Target="../media/image57.png"/><Relationship Id="rId9" Type="http://schemas.openxmlformats.org/officeDocument/2006/relationships/image" Target="../media/image58.png"/><Relationship Id="rId10" Type="http://schemas.openxmlformats.org/officeDocument/2006/relationships/image" Target="../media/image59.png"/><Relationship Id="rId11" Type="http://schemas.openxmlformats.org/officeDocument/2006/relationships/image" Target="../media/image60.png"/><Relationship Id="rId12" Type="http://schemas.openxmlformats.org/officeDocument/2006/relationships/image" Target="../media/image61.png"/><Relationship Id="rId13" Type="http://schemas.openxmlformats.org/officeDocument/2006/relationships/image" Target="../media/image62.png"/><Relationship Id="rId14" Type="http://schemas.openxmlformats.org/officeDocument/2006/relationships/image" Target="../media/image25.png"/><Relationship Id="rId15" Type="http://schemas.openxmlformats.org/officeDocument/2006/relationships/image" Target="../media/image63.png"/><Relationship Id="rId16" Type="http://schemas.openxmlformats.org/officeDocument/2006/relationships/image" Target="../media/image64.png"/><Relationship Id="rId17" Type="http://schemas.openxmlformats.org/officeDocument/2006/relationships/image" Target="../media/image65.png"/><Relationship Id="rId18" Type="http://schemas.openxmlformats.org/officeDocument/2006/relationships/image" Target="../media/image66.png"/><Relationship Id="rId19" Type="http://schemas.openxmlformats.org/officeDocument/2006/relationships/image" Target="../media/image67.png"/><Relationship Id="rId20" Type="http://schemas.openxmlformats.org/officeDocument/2006/relationships/image" Target="../media/image68.png"/><Relationship Id="rId21" Type="http://schemas.openxmlformats.org/officeDocument/2006/relationships/image" Target="../media/image69.png"/><Relationship Id="rId22" Type="http://schemas.openxmlformats.org/officeDocument/2006/relationships/image" Target="../media/image70.png"/><Relationship Id="rId23" Type="http://schemas.openxmlformats.org/officeDocument/2006/relationships/image" Target="../media/image71.png"/><Relationship Id="rId24" Type="http://schemas.openxmlformats.org/officeDocument/2006/relationships/image" Target="../media/image72.png"/><Relationship Id="rId25" Type="http://schemas.openxmlformats.org/officeDocument/2006/relationships/image" Target="../media/image73.png"/><Relationship Id="rId26" Type="http://schemas.openxmlformats.org/officeDocument/2006/relationships/image" Target="../media/image74.png"/><Relationship Id="rId27" Type="http://schemas.openxmlformats.org/officeDocument/2006/relationships/image" Target="../media/image75.png"/><Relationship Id="rId28" Type="http://schemas.openxmlformats.org/officeDocument/2006/relationships/image" Target="../media/image7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7.png"/><Relationship Id="rId3" Type="http://schemas.openxmlformats.org/officeDocument/2006/relationships/image" Target="../media/image78.png"/><Relationship Id="rId4" Type="http://schemas.openxmlformats.org/officeDocument/2006/relationships/image" Target="../media/image79.png"/><Relationship Id="rId5" Type="http://schemas.openxmlformats.org/officeDocument/2006/relationships/image" Target="../media/image80.png"/><Relationship Id="rId6" Type="http://schemas.openxmlformats.org/officeDocument/2006/relationships/image" Target="../media/image81.png"/><Relationship Id="rId7" Type="http://schemas.openxmlformats.org/officeDocument/2006/relationships/image" Target="../media/image82.png"/><Relationship Id="rId8" Type="http://schemas.openxmlformats.org/officeDocument/2006/relationships/image" Target="../media/image83.png"/><Relationship Id="rId9" Type="http://schemas.openxmlformats.org/officeDocument/2006/relationships/image" Target="../media/image84.png"/><Relationship Id="rId10" Type="http://schemas.openxmlformats.org/officeDocument/2006/relationships/image" Target="../media/image85.png"/><Relationship Id="rId11" Type="http://schemas.openxmlformats.org/officeDocument/2006/relationships/image" Target="../media/image86.png"/><Relationship Id="rId12" Type="http://schemas.openxmlformats.org/officeDocument/2006/relationships/image" Target="../media/image87.png"/><Relationship Id="rId13" Type="http://schemas.openxmlformats.org/officeDocument/2006/relationships/image" Target="../media/image88.png"/><Relationship Id="rId14" Type="http://schemas.openxmlformats.org/officeDocument/2006/relationships/image" Target="../media/image89.png"/><Relationship Id="rId15" Type="http://schemas.openxmlformats.org/officeDocument/2006/relationships/image" Target="../media/image90.png"/><Relationship Id="rId16" Type="http://schemas.openxmlformats.org/officeDocument/2006/relationships/image" Target="../media/image91.png"/><Relationship Id="rId17" Type="http://schemas.openxmlformats.org/officeDocument/2006/relationships/image" Target="../media/image92.png"/><Relationship Id="rId18" Type="http://schemas.openxmlformats.org/officeDocument/2006/relationships/image" Target="../media/image93.png"/><Relationship Id="rId19" Type="http://schemas.openxmlformats.org/officeDocument/2006/relationships/image" Target="../media/image94.png"/><Relationship Id="rId20" Type="http://schemas.openxmlformats.org/officeDocument/2006/relationships/image" Target="../media/image9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" y="6162675"/>
            <a:ext cx="11144250" cy="2667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2825" y="3028950"/>
            <a:ext cx="4305300" cy="31337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39050" y="3638550"/>
            <a:ext cx="3752850" cy="4572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39050" y="4229100"/>
            <a:ext cx="3752850" cy="4572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39050" y="4819650"/>
            <a:ext cx="3752850" cy="4572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39050" y="5410200"/>
            <a:ext cx="3752850" cy="4762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3875" y="428625"/>
            <a:ext cx="11144250" cy="25527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23875" y="2990850"/>
            <a:ext cx="1495425" cy="2190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133600" y="2981325"/>
            <a:ext cx="1090612" cy="23812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23875" y="6286500"/>
            <a:ext cx="137160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94A3B8"/>
                </a:solidFill>
                <a:latin typeface="Plus Jakarta Sans"/>
              </a:rPr>
              <a:t>McCormick SAP / AI Team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34775" y="6286500"/>
            <a:ext cx="13335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38BDF8"/>
                </a:solidFill>
                <a:latin typeface="Plus Jakarta Sans"/>
              </a:rPr>
              <a:t>01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8175" y="3048000"/>
            <a:ext cx="109537" cy="10477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257425" y="3048000"/>
            <a:ext cx="119062" cy="10477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23875" y="3486150"/>
            <a:ext cx="6780847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800"/>
              </a:lnSpc>
            </a:pPr>
            <a:r>
              <a:rPr b="0" sz="4800" i="0" u="none">
                <a:solidFill>
                  <a:srgbClr val="FFFFFF"/>
                </a:solidFill>
                <a:latin typeface="Plus Jakarta Sans ExtraBold"/>
              </a:rPr>
              <a:t>SPICE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3875" y="4171950"/>
            <a:ext cx="6780847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950" i="0" u="none">
                <a:solidFill>
                  <a:srgbClr val="E2E8F0"/>
                </a:solidFill>
                <a:latin typeface="Plus Jakarta Sans SemiBold"/>
              </a:rPr>
              <a:t>SAP Program Inspection &amp; Code Evaluation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23875" y="4676775"/>
            <a:ext cx="762000" cy="28575"/>
          </a:xfrm>
          <a:prstGeom prst="rect">
            <a:avLst/>
          </a:prstGeom>
          <a:solidFill>
            <a:srgbClr val="C423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3875" y="4895850"/>
            <a:ext cx="645795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F1F5F9"/>
                </a:solidFill>
                <a:latin typeface="Plus Jakarta Sans SemiBold"/>
              </a:rPr>
              <a:t>From Transport Request to Review Decision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3875" y="5276850"/>
            <a:ext cx="552450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94A3B8"/>
                </a:solidFill>
                <a:latin typeface="Plus Jakarta Sans"/>
              </a:rPr>
              <a:t>A focused review layer around SAP — engineered for speed, deep technical context, and quality consistency.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39050" y="3305175"/>
            <a:ext cx="375285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900" i="0" u="none">
                <a:solidFill>
                  <a:srgbClr val="38BDF8"/>
                </a:solidFill>
                <a:latin typeface="Plus Jakarta Sans"/>
              </a:rPr>
              <a:t>INTEGRATED REVIEW PIPELINE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772400" y="3733800"/>
            <a:ext cx="266700" cy="26670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772400" y="4324350"/>
            <a:ext cx="266700" cy="26670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772400" y="4914900"/>
            <a:ext cx="266700" cy="26670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781925" y="5514975"/>
            <a:ext cx="266700" cy="2667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8181975" y="5572125"/>
            <a:ext cx="16573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F472B6"/>
                </a:solidFill>
                <a:latin typeface="Plus Jakarta Sans"/>
              </a:rPr>
              <a:t>AI Recommendation Engine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5572125"/>
            <a:ext cx="11144250" cy="85725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" y="3793331"/>
            <a:ext cx="3587650" cy="1540668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2025" y="3793331"/>
            <a:ext cx="3587799" cy="1540668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0325" y="3793331"/>
            <a:ext cx="3587650" cy="1540668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0" y="4060031"/>
            <a:ext cx="342900" cy="3429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40150" y="4060031"/>
            <a:ext cx="342900" cy="3429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18450" y="4060031"/>
            <a:ext cx="342900" cy="3429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3875" y="428625"/>
            <a:ext cx="11144250" cy="198938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23875" y="6400800"/>
            <a:ext cx="11144250" cy="2476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23875" y="3536156"/>
            <a:ext cx="1114425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180"/>
                </a:solidFill>
                <a:latin typeface="Plus Jakarta Sans ExtraBold"/>
              </a:rPr>
              <a:t>TODAY'S REVIEW FRICTION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3875" y="6524625"/>
            <a:ext cx="1019175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647180"/>
                </a:solidFill>
                <a:latin typeface="Plus Jakarta Sans SemiBold"/>
              </a:rPr>
              <a:t>SPICE • McCormick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57850" y="6524625"/>
            <a:ext cx="1752600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647180"/>
                </a:solidFill>
                <a:latin typeface="Plus Jakarta Sans SemiBold"/>
              </a:rPr>
              <a:t>SAP DEVELOPMENT • AI ENABLED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25250" y="6524625"/>
            <a:ext cx="142875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205B91"/>
                </a:solidFill>
                <a:latin typeface="Plus Jakarta San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000" y="4517231"/>
            <a:ext cx="3111400" cy="3857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18"/>
              </a:lnSpc>
            </a:pPr>
            <a:r>
              <a:rPr b="0" sz="1012" i="0" u="none">
                <a:solidFill>
                  <a:srgbClr val="647180"/>
                </a:solidFill>
                <a:latin typeface="Plus Jakarta Sans"/>
              </a:rPr>
              <a:t>Constant jumping between SE80, ST05, and transport logs just to build baseline review context.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40150" y="4517231"/>
            <a:ext cx="3111549" cy="5786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18"/>
              </a:lnSpc>
            </a:pPr>
            <a:r>
              <a:rPr b="0" sz="1012" i="0" u="none">
                <a:solidFill>
                  <a:srgbClr val="647180"/>
                </a:solidFill>
                <a:latin typeface="Plus Jakarta Sans"/>
              </a:rPr>
              <a:t>Source code, ATC check findings, and reviewer comments scattered across multiple disparate tools.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18450" y="4517231"/>
            <a:ext cx="3111400" cy="3857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18"/>
              </a:lnSpc>
            </a:pPr>
            <a:r>
              <a:rPr b="0" sz="1012" i="0" u="none">
                <a:solidFill>
                  <a:srgbClr val="647180"/>
                </a:solidFill>
                <a:latin typeface="Plus Jakarta Sans"/>
              </a:rPr>
              <a:t>Senior reviewers spend majority effort gathering evidence instead of evaluating logic and impact.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625" y="6057900"/>
            <a:ext cx="5686425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12" i="0" u="none">
                <a:solidFill>
                  <a:srgbClr val="94A3B8"/>
                </a:solidFill>
                <a:latin typeface="Plus Jakarta Sans"/>
              </a:rPr>
              <a:t>Review the change itself — not the tedious process of finding and piecing together the change.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943725" y="5881687"/>
            <a:ext cx="1419225" cy="23812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477250" y="5881687"/>
            <a:ext cx="1328737" cy="23812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920287" y="5881687"/>
            <a:ext cx="1462087" cy="238125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219200" y="4131468"/>
            <a:ext cx="1990248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A192F"/>
                </a:solidFill>
                <a:latin typeface="Plus Jakarta Sans"/>
              </a:rPr>
              <a:t>Repeated SAP Navigation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97350" y="4131468"/>
            <a:ext cx="1630203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A192F"/>
                </a:solidFill>
                <a:latin typeface="Plus Jakarta Sans"/>
              </a:rPr>
              <a:t>Fragmented Context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5650" y="4131468"/>
            <a:ext cx="2110263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A192F"/>
                </a:solidFill>
                <a:latin typeface="Plus Jakarta Sans"/>
              </a:rPr>
              <a:t>Time Spent Collecting Data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09625" y="5781675"/>
            <a:ext cx="1081087" cy="219075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985962" y="5781675"/>
            <a:ext cx="3080385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FFFFF"/>
                </a:solidFill>
                <a:latin typeface="Plus Jakarta Sans"/>
              </a:rPr>
              <a:t>ONE UNIFIED REVIEW WORKSPACE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067550" y="5948362"/>
            <a:ext cx="100012" cy="104775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601075" y="5948362"/>
            <a:ext cx="119062" cy="104775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034587" y="5948362"/>
            <a:ext cx="109537" cy="104775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523875" y="2418010"/>
            <a:ext cx="1176337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C42330"/>
                </a:solidFill>
                <a:latin typeface="Plus Jakarta Sans ExtraBold"/>
              </a:rPr>
              <a:t>THE OPPORTUNITY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3875" y="2598985"/>
            <a:ext cx="1950243" cy="409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A192F"/>
                </a:solidFill>
                <a:latin typeface="Plus Jakarta Sans"/>
              </a:rPr>
              <a:t>Why SPICE?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3875" y="3084760"/>
            <a:ext cx="8458200" cy="2132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200" i="0" u="none">
                <a:solidFill>
                  <a:srgbClr val="647180"/>
                </a:solidFill>
                <a:latin typeface="Plus Jakarta Sans"/>
              </a:rPr>
              <a:t>The challenge in SAP code reviews isn't data access—it is the manual effort required to assemble fragmented context.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6048375"/>
            <a:ext cx="11144250" cy="381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" y="2257425"/>
            <a:ext cx="4857750" cy="3619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0375" y="2257425"/>
            <a:ext cx="4857750" cy="36195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050" y="5286375"/>
            <a:ext cx="4343400" cy="3333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67550" y="3276600"/>
            <a:ext cx="4343400" cy="4762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67550" y="3848100"/>
            <a:ext cx="4343400" cy="4762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67550" y="4419600"/>
            <a:ext cx="4343400" cy="4762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67550" y="4991100"/>
            <a:ext cx="4343400" cy="4762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3875" y="428625"/>
            <a:ext cx="11144250" cy="710654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23875" y="6400800"/>
            <a:ext cx="11144250" cy="2476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23875" y="6524625"/>
            <a:ext cx="1019175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647180"/>
                </a:solidFill>
                <a:latin typeface="Plus Jakarta Sans SemiBold"/>
              </a:rPr>
              <a:t>SPICE • McCormick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57850" y="6524625"/>
            <a:ext cx="1752600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647180"/>
                </a:solidFill>
                <a:latin typeface="Plus Jakarta Sans SemiBold"/>
              </a:rPr>
              <a:t>SAP DEVELOPMENT • AI ENABLED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25250" y="6524625"/>
            <a:ext cx="142875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205B91"/>
                </a:solidFill>
                <a:latin typeface="Plus Jakarta Sans"/>
              </a:rPr>
              <a:t>03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728912" y="6181725"/>
            <a:ext cx="95250" cy="123825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5524500" y="3714750"/>
            <a:ext cx="1143000" cy="19050"/>
          </a:xfrm>
          <a:prstGeom prst="rect">
            <a:avLst/>
          </a:prstGeom>
          <a:solidFill>
            <a:srgbClr val="C423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524500" y="4400550"/>
            <a:ext cx="1143000" cy="19050"/>
          </a:xfrm>
          <a:prstGeom prst="rect">
            <a:avLst/>
          </a:prstGeom>
          <a:solidFill>
            <a:srgbClr val="C423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81050" y="2524125"/>
            <a:ext cx="1633537" cy="21907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81050" y="2895600"/>
            <a:ext cx="4560570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A192F"/>
                </a:solidFill>
                <a:latin typeface="Plus Jakarta Sans"/>
              </a:rPr>
              <a:t>Reviewer Front-End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14400" y="5400675"/>
            <a:ext cx="133350" cy="1143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019800" y="3924300"/>
            <a:ext cx="152400" cy="1524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810250" y="4133850"/>
            <a:ext cx="571500" cy="104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675" i="0" u="none">
                <a:solidFill>
                  <a:srgbClr val="0A192F"/>
                </a:solidFill>
                <a:latin typeface="Plus Jakarta Sans ExtraBold"/>
              </a:rPr>
              <a:t>SAME TOOLS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67550" y="2514600"/>
            <a:ext cx="4343400" cy="2190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200" i="0" u="none">
                <a:latin typeface="Plus Jakarta Sans"/>
              </a:rPr>
              <a:t>REUSABLE TOOL LAYER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67550" y="2886075"/>
            <a:ext cx="4560570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A192F"/>
                </a:solidFill>
                <a:latin typeface="Plus Jakarta Sans"/>
              </a:rPr>
              <a:t>Modular Services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9650" y="3286125"/>
            <a:ext cx="4114800" cy="161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1012" i="0" u="none">
                <a:solidFill>
                  <a:srgbClr val="0A192F"/>
                </a:solidFill>
                <a:latin typeface="Plus Jakarta Sans SemiBold"/>
              </a:rPr>
              <a:t>Primary interactive reviewer interface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9650" y="3562350"/>
            <a:ext cx="4114800" cy="161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1012" i="0" u="none">
                <a:solidFill>
                  <a:srgbClr val="192330"/>
                </a:solidFill>
                <a:latin typeface="Plus Jakarta Sans"/>
              </a:rPr>
              <a:t>Interactive Transport &amp; Object Explorer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9650" y="3838575"/>
            <a:ext cx="4114800" cy="161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1012" i="0" u="none">
                <a:solidFill>
                  <a:srgbClr val="192330"/>
                </a:solidFill>
                <a:latin typeface="Plus Jakarta Sans"/>
              </a:rPr>
              <a:t>Tabbed workspace: Source, ATC &amp; AI Insights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9650" y="4114800"/>
            <a:ext cx="4114800" cy="161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1012" i="0" u="none">
                <a:solidFill>
                  <a:srgbClr val="192330"/>
                </a:solidFill>
                <a:latin typeface="Plus Jakarta Sans"/>
              </a:rPr>
              <a:t>Visual triage &amp; one-click review approvals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067550" y="2514600"/>
            <a:ext cx="952500" cy="219075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1115675" y="3438525"/>
            <a:ext cx="171450" cy="152400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1096625" y="4010025"/>
            <a:ext cx="190500" cy="152400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1134725" y="4581525"/>
            <a:ext cx="152400" cy="152400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1096625" y="5153025"/>
            <a:ext cx="190500" cy="152400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81050" y="3300412"/>
            <a:ext cx="133350" cy="133350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81050" y="3576637"/>
            <a:ext cx="133350" cy="133350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81050" y="3852862"/>
            <a:ext cx="133350" cy="133350"/>
          </a:xfrm>
          <a:prstGeom prst="rect">
            <a:avLst/>
          </a:prstGeom>
        </p:spPr>
      </p:pic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81050" y="4129087"/>
            <a:ext cx="133350" cy="13335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7191375" y="3381375"/>
            <a:ext cx="136207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A192F"/>
                </a:solidFill>
                <a:latin typeface="Plus Jakarta Sans"/>
              </a:rPr>
              <a:t>01. Extract Objects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91375" y="3524250"/>
            <a:ext cx="1362075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647180"/>
                </a:solidFill>
                <a:latin typeface="Plus Jakarta Sans"/>
              </a:rPr>
              <a:t>TR → object list &amp; metadata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91375" y="3952875"/>
            <a:ext cx="173355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A192F"/>
                </a:solidFill>
                <a:latin typeface="Plus Jakarta Sans"/>
              </a:rPr>
              <a:t>02. Extract Code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91375" y="4095750"/>
            <a:ext cx="1733550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647180"/>
                </a:solidFill>
                <a:latin typeface="Plus Jakarta Sans"/>
              </a:rPr>
              <a:t>Object → ABAP source &amp; definition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91375" y="4524375"/>
            <a:ext cx="172402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A192F"/>
                </a:solidFill>
                <a:latin typeface="Plus Jakarta Sans"/>
              </a:rPr>
              <a:t>03. Extract ATC Check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191375" y="4667250"/>
            <a:ext cx="1724025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647180"/>
                </a:solidFill>
                <a:latin typeface="Plus Jakarta Sans"/>
              </a:rPr>
              <a:t>Object → ATC messages &amp; priority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191375" y="5095875"/>
            <a:ext cx="149542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A192F"/>
                </a:solidFill>
                <a:latin typeface="Plus Jakarta Sans"/>
              </a:rPr>
              <a:t>04. AI Review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191375" y="5238750"/>
            <a:ext cx="1495425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647180"/>
                </a:solidFill>
                <a:latin typeface="Plus Jakarta Sans"/>
              </a:rPr>
              <a:t>Context → automated findings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3875" y="1139279"/>
            <a:ext cx="1004887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C42330"/>
                </a:solidFill>
                <a:latin typeface="Plus Jakarta Sans ExtraBold"/>
              </a:rPr>
              <a:t>SYSTEM DESIGN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23875" y="1320254"/>
            <a:ext cx="6900862" cy="409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A192F"/>
                </a:solidFill>
                <a:latin typeface="Plus Jakarta Sans"/>
              </a:rPr>
              <a:t>Architecture: Dedicated App + MCP Server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23875" y="1806029"/>
            <a:ext cx="9267825" cy="2132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200" i="0" u="none">
                <a:solidFill>
                  <a:srgbClr val="647180"/>
                </a:solidFill>
                <a:latin typeface="Plus Jakarta Sans"/>
              </a:rPr>
              <a:t>The SPICE web application delivers an intuitive reviewer experience, while the MCP server exposes reusable modular capabilities.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4933950"/>
            <a:ext cx="11144250" cy="78105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" y="3524250"/>
            <a:ext cx="1762125" cy="11239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00300" y="3524250"/>
            <a:ext cx="1762125" cy="11239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76725" y="3524250"/>
            <a:ext cx="1762125" cy="11239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53150" y="3524250"/>
            <a:ext cx="1762125" cy="11239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29575" y="3524250"/>
            <a:ext cx="1762125" cy="11239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06000" y="3524250"/>
            <a:ext cx="1762125" cy="11239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52537" y="3705225"/>
            <a:ext cx="304800" cy="3048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28962" y="3705225"/>
            <a:ext cx="304800" cy="3048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05387" y="3705225"/>
            <a:ext cx="304800" cy="3048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81812" y="3705225"/>
            <a:ext cx="304800" cy="3048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758237" y="3705225"/>
            <a:ext cx="304800" cy="3048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634662" y="3714750"/>
            <a:ext cx="304800" cy="3048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23875" y="428625"/>
            <a:ext cx="11144250" cy="1834604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23875" y="6400800"/>
            <a:ext cx="11144250" cy="2476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23875" y="5905500"/>
            <a:ext cx="11144250" cy="523875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23875" y="6524625"/>
            <a:ext cx="1019175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647180"/>
                </a:solidFill>
                <a:latin typeface="Plus Jakarta Sans SemiBold"/>
              </a:rPr>
              <a:t>SPICE • McCormick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57850" y="6524625"/>
            <a:ext cx="1752600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647180"/>
                </a:solidFill>
                <a:latin typeface="Plus Jakarta Sans SemiBold"/>
              </a:rPr>
              <a:t>SAP DEVELOPMENT • AI ENABLED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25250" y="6524625"/>
            <a:ext cx="142875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205B91"/>
                </a:solidFill>
                <a:latin typeface="Plus Jakarta Sans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2475" y="5105400"/>
            <a:ext cx="10687050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C42330"/>
                </a:solidFill>
                <a:latin typeface="Plus Jakarta Sans ExtraBold"/>
              </a:rPr>
              <a:t>ASSEMBLED REVIEW CONTEXT AT A GLANCE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800475" y="6096000"/>
            <a:ext cx="123825" cy="142875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876800" y="6096000"/>
            <a:ext cx="123825" cy="14287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29840" y="4124325"/>
            <a:ext cx="1550193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00" i="0" u="none">
                <a:solidFill>
                  <a:srgbClr val="0A192F"/>
                </a:solidFill>
                <a:latin typeface="Plus Jakarta Sans ExtraBold"/>
              </a:rPr>
              <a:t>TRANSPORT REQUEST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6750" y="4324350"/>
            <a:ext cx="1476375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825" i="0" u="none">
                <a:solidFill>
                  <a:srgbClr val="647180"/>
                </a:solidFill>
                <a:latin typeface="Plus Jakarta Sans"/>
              </a:rPr>
              <a:t>DEVK900123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06265" y="4124325"/>
            <a:ext cx="1550193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00" i="0" u="none">
                <a:solidFill>
                  <a:srgbClr val="0A192F"/>
                </a:solidFill>
                <a:latin typeface="Plus Jakarta Sans ExtraBold"/>
              </a:rPr>
              <a:t>EXTRACT OBJECTS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43175" y="4324350"/>
            <a:ext cx="1476375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825" i="0" u="none">
                <a:solidFill>
                  <a:srgbClr val="647180"/>
                </a:solidFill>
                <a:latin typeface="Plus Jakarta Sans"/>
              </a:rPr>
              <a:t>Objects &amp; Metadata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2690" y="4124325"/>
            <a:ext cx="1550193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00" i="0" u="none">
                <a:solidFill>
                  <a:srgbClr val="0A192F"/>
                </a:solidFill>
                <a:latin typeface="Plus Jakarta Sans ExtraBold"/>
              </a:rPr>
              <a:t>EXTRACT CODE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19600" y="4324350"/>
            <a:ext cx="1476375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825" i="0" u="none">
                <a:solidFill>
                  <a:srgbClr val="647180"/>
                </a:solidFill>
                <a:latin typeface="Plus Jakarta Sans"/>
              </a:rPr>
              <a:t>Source &amp; Definitions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59115" y="4124325"/>
            <a:ext cx="1550193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00" i="0" u="none">
                <a:solidFill>
                  <a:srgbClr val="0A192F"/>
                </a:solidFill>
                <a:latin typeface="Plus Jakarta Sans ExtraBold"/>
              </a:rPr>
              <a:t>ATC CHECK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96025" y="4324350"/>
            <a:ext cx="1476375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825" i="0" u="none">
                <a:solidFill>
                  <a:srgbClr val="647180"/>
                </a:solidFill>
                <a:latin typeface="Plus Jakarta Sans"/>
              </a:rPr>
              <a:t>Warnings &amp; Priority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35540" y="4124325"/>
            <a:ext cx="1550193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00" i="0" u="none">
                <a:solidFill>
                  <a:srgbClr val="0A192F"/>
                </a:solidFill>
                <a:latin typeface="Plus Jakarta Sans ExtraBold"/>
              </a:rPr>
              <a:t>AI REVIEW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72450" y="4324350"/>
            <a:ext cx="1476375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825" i="0" u="none">
                <a:solidFill>
                  <a:srgbClr val="647180"/>
                </a:solidFill>
                <a:latin typeface="Plus Jakarta Sans"/>
              </a:rPr>
              <a:t>Insights &amp; Recs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21966" y="4133850"/>
            <a:ext cx="1530191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00" i="0" u="none">
                <a:solidFill>
                  <a:srgbClr val="0A192F"/>
                </a:solidFill>
                <a:latin typeface="Plus Jakarta Sans ExtraBold"/>
              </a:rPr>
              <a:t>DECISION READY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58400" y="4333875"/>
            <a:ext cx="1457325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825" i="0" u="none">
                <a:solidFill>
                  <a:srgbClr val="2A825E"/>
                </a:solidFill>
                <a:latin typeface="Plus Jakarta Sans"/>
              </a:rPr>
              <a:t>Actionable Review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52475" y="5324475"/>
            <a:ext cx="1466850" cy="219075"/>
          </a:xfrm>
          <a:prstGeom prst="rect">
            <a:avLst/>
          </a:prstGeom>
        </p:spPr>
      </p:pic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314575" y="5324475"/>
            <a:ext cx="1557337" cy="219075"/>
          </a:xfrm>
          <a:prstGeom prst="rect">
            <a:avLst/>
          </a:prstGeom>
        </p:spPr>
      </p:pic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967162" y="5324475"/>
            <a:ext cx="1176337" cy="219075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238750" y="5324475"/>
            <a:ext cx="1304925" cy="219075"/>
          </a:xfrm>
          <a:prstGeom prst="rect">
            <a:avLst/>
          </a:prstGeom>
        </p:spPr>
      </p:pic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638925" y="5324475"/>
            <a:ext cx="1581150" cy="219075"/>
          </a:xfrm>
          <a:prstGeom prst="rect">
            <a:avLst/>
          </a:prstGeom>
        </p:spPr>
      </p:pic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2252662" y="4019550"/>
            <a:ext cx="85725" cy="133350"/>
          </a:xfrm>
          <a:prstGeom prst="rect">
            <a:avLst/>
          </a:prstGeom>
        </p:spPr>
      </p:pic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129087" y="4019550"/>
            <a:ext cx="85725" cy="133350"/>
          </a:xfrm>
          <a:prstGeom prst="rect">
            <a:avLst/>
          </a:prstGeom>
        </p:spPr>
      </p:pic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005512" y="4019550"/>
            <a:ext cx="85725" cy="133350"/>
          </a:xfrm>
          <a:prstGeom prst="rect">
            <a:avLst/>
          </a:prstGeom>
        </p:spPr>
      </p:pic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881937" y="4019550"/>
            <a:ext cx="85725" cy="133350"/>
          </a:xfrm>
          <a:prstGeom prst="rect">
            <a:avLst/>
          </a:prstGeom>
        </p:spPr>
      </p:pic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758362" y="4019550"/>
            <a:ext cx="85725" cy="133350"/>
          </a:xfrm>
          <a:prstGeom prst="rect">
            <a:avLst/>
          </a:prstGeom>
        </p:spPr>
      </p:pic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66775" y="5381625"/>
            <a:ext cx="119062" cy="104775"/>
          </a:xfrm>
          <a:prstGeom prst="rect">
            <a:avLst/>
          </a:prstGeom>
        </p:spPr>
      </p:pic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2428875" y="5381625"/>
            <a:ext cx="80962" cy="104775"/>
          </a:xfrm>
          <a:prstGeom prst="rect">
            <a:avLst/>
          </a:prstGeom>
        </p:spPr>
      </p:pic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4081462" y="5381625"/>
            <a:ext cx="109537" cy="104775"/>
          </a:xfrm>
          <a:prstGeom prst="rect">
            <a:avLst/>
          </a:prstGeom>
        </p:spPr>
      </p:pic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5353050" y="5381625"/>
            <a:ext cx="109537" cy="104775"/>
          </a:xfrm>
          <a:prstGeom prst="rect">
            <a:avLst/>
          </a:prstGeom>
        </p:spPr>
      </p:pic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753225" y="5381625"/>
            <a:ext cx="109537" cy="104775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523875" y="2263229"/>
            <a:ext cx="1357312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C42330"/>
                </a:solidFill>
                <a:latin typeface="Plus Jakarta Sans ExtraBold"/>
              </a:rPr>
              <a:t>WORKFLOW PIPELINE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23875" y="2444204"/>
            <a:ext cx="5710713" cy="409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A192F"/>
                </a:solidFill>
                <a:latin typeface="Plus Jakarta Sans"/>
              </a:rPr>
              <a:t>End-to-End Review Execution Flow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3875" y="2929979"/>
            <a:ext cx="7267575" cy="2132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200" i="0" u="none">
                <a:solidFill>
                  <a:srgbClr val="647180"/>
                </a:solidFill>
                <a:latin typeface="Plus Jakarta Sans"/>
              </a:rPr>
              <a:t>A seamless 6-step automated path transforming a raw Transport Request into an actionable decision.</a:t>
            </a:r>
          </a:p>
        </p:txBody>
      </p:sp>
      <p:pic>
        <p:nvPicPr>
          <p:cNvPr id="54" name="Picture 53" descr="image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2200275" y="3990975"/>
            <a:ext cx="190500" cy="190500"/>
          </a:xfrm>
          <a:prstGeom prst="rect">
            <a:avLst/>
          </a:prstGeom>
        </p:spPr>
      </p:pic>
      <p:pic>
        <p:nvPicPr>
          <p:cNvPr id="55" name="Picture 54" descr="image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4076700" y="3990975"/>
            <a:ext cx="190500" cy="190500"/>
          </a:xfrm>
          <a:prstGeom prst="rect">
            <a:avLst/>
          </a:prstGeom>
        </p:spPr>
      </p:pic>
      <p:pic>
        <p:nvPicPr>
          <p:cNvPr id="56" name="Picture 55" descr="image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5953125" y="3990975"/>
            <a:ext cx="190500" cy="190500"/>
          </a:xfrm>
          <a:prstGeom prst="rect">
            <a:avLst/>
          </a:prstGeom>
        </p:spPr>
      </p:pic>
      <p:pic>
        <p:nvPicPr>
          <p:cNvPr id="57" name="Picture 56" descr="image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7829550" y="3990975"/>
            <a:ext cx="190500" cy="190500"/>
          </a:xfrm>
          <a:prstGeom prst="rect">
            <a:avLst/>
          </a:prstGeom>
        </p:spPr>
      </p:pic>
      <p:pic>
        <p:nvPicPr>
          <p:cNvPr id="58" name="Picture 57" descr="image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9705975" y="3990975"/>
            <a:ext cx="190500" cy="190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6153150"/>
            <a:ext cx="4581525" cy="27622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333375"/>
            <a:ext cx="6372225" cy="61912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95925" y="342900"/>
            <a:ext cx="6353175" cy="3429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95925" y="685800"/>
            <a:ext cx="6353175" cy="58293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95925" y="685800"/>
            <a:ext cx="1714500" cy="58293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10425" y="685800"/>
            <a:ext cx="4638675" cy="58293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53300" y="1228725"/>
            <a:ext cx="4352925" cy="1434107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53300" y="2777132"/>
            <a:ext cx="4352925" cy="879871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591175" y="1038225"/>
            <a:ext cx="1514475" cy="4191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0" y="0"/>
            <a:ext cx="5486400" cy="68580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486400" y="0"/>
            <a:ext cx="6705600" cy="68580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23875" y="428625"/>
            <a:ext cx="4581525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C42330"/>
                </a:solidFill>
                <a:latin typeface="Plus Jakarta Sans ExtraBold"/>
              </a:rPr>
              <a:t>THE REVIEWER EXPERIENCE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3875" y="609600"/>
            <a:ext cx="4810601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250" i="0" u="none">
                <a:solidFill>
                  <a:srgbClr val="0A192F"/>
                </a:solidFill>
                <a:latin typeface="Plus Jakarta Sans"/>
              </a:rPr>
              <a:t>Single Workspace Focus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3875" y="1047750"/>
            <a:ext cx="4581525" cy="3866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b="0" sz="1087" i="0" u="none">
                <a:solidFill>
                  <a:srgbClr val="647180"/>
                </a:solidFill>
                <a:latin typeface="Plus Jakarta Sans"/>
              </a:rPr>
              <a:t>SPICE keeps reviewers focused purely on code evaluation rather than navigation overhead.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3875" y="6305550"/>
            <a:ext cx="1019175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647180"/>
                </a:solidFill>
                <a:latin typeface="Plus Jakarta Sans SemiBold"/>
              </a:rPr>
              <a:t>SPICE • McCormick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62525" y="6305550"/>
            <a:ext cx="142875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205B91"/>
                </a:solidFill>
                <a:latin typeface="Plus Jakarta Sans"/>
              </a:rP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24750" y="447675"/>
            <a:ext cx="1857375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94A3B8"/>
                </a:solidFill>
                <a:latin typeface="Plus Jakarta Sans SemiBold"/>
              </a:rPr>
              <a:t>SPICE Workspace / TR: DEVK900123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858500" y="438150"/>
            <a:ext cx="838200" cy="14287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23875" y="1624905"/>
            <a:ext cx="266700" cy="2667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23875" y="2196405"/>
            <a:ext cx="266700" cy="2667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23875" y="2767905"/>
            <a:ext cx="266700" cy="266700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5648325" y="461962"/>
            <a:ext cx="95250" cy="95250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800725" y="461962"/>
            <a:ext cx="95250" cy="9525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953125" y="461962"/>
            <a:ext cx="95250" cy="95250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591175" y="828675"/>
            <a:ext cx="1514475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750" i="0" u="none">
                <a:solidFill>
                  <a:srgbClr val="64748B"/>
                </a:solidFill>
                <a:latin typeface="Plus Jakarta Sans ExtraBold"/>
              </a:rPr>
              <a:t>TRANSPORT OBJECTS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53300" y="828675"/>
            <a:ext cx="4352925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EF4444"/>
                </a:solidFill>
                <a:latin typeface="Plus Jakarta Sans"/>
              </a:rPr>
              <a:t>SOURCE CODE</a:t>
            </a:r>
            <a:r>
              <a:rPr b="1" sz="825" i="0" u="none">
                <a:solidFill>
                  <a:srgbClr val="1E293B"/>
                </a:solidFill>
                <a:latin typeface="Plus Jakarta Sans"/>
              </a:rPr>
              <a:t> </a:t>
            </a:r>
            <a:r>
              <a:rPr b="1" sz="825" i="0" u="none">
                <a:solidFill>
                  <a:srgbClr val="64748B"/>
                </a:solidFill>
                <a:latin typeface="Plus Jakarta Sans"/>
              </a:rPr>
              <a:t>ATC CHECK (0)</a:t>
            </a:r>
            <a:r>
              <a:rPr b="1" sz="825" i="0" u="none">
                <a:solidFill>
                  <a:srgbClr val="1E293B"/>
                </a:solidFill>
                <a:latin typeface="Plus Jakarta Sans"/>
              </a:rPr>
              <a:t> </a:t>
            </a:r>
            <a:r>
              <a:rPr b="1" sz="825" i="0" u="none">
                <a:solidFill>
                  <a:srgbClr val="F472B6"/>
                </a:solidFill>
                <a:latin typeface="Plus Jakarta Sans"/>
              </a:rPr>
              <a:t>AI REVIEW (1)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53300" y="1104900"/>
            <a:ext cx="4352925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00075" y="1701105"/>
            <a:ext cx="114300" cy="1143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904875" y="1624905"/>
            <a:ext cx="4410551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A192F"/>
                </a:solidFill>
                <a:latin typeface="Plus Jakarta Sans"/>
              </a:rPr>
              <a:t>Multi-Object Transport Tree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4875" y="1777305"/>
            <a:ext cx="4200525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180"/>
                </a:solidFill>
                <a:latin typeface="Plus Jakarta Sans"/>
              </a:rPr>
              <a:t>Quickly toggle between CLAS, PROG, DDLS, and BDEF objects in DEVK900123.</a:t>
            </a: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90550" y="2272605"/>
            <a:ext cx="133350" cy="11430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904875" y="2196405"/>
            <a:ext cx="4410551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A192F"/>
                </a:solidFill>
                <a:latin typeface="Plus Jakarta Sans"/>
              </a:rPr>
              <a:t>AI Code Analysis Tab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4875" y="2348805"/>
            <a:ext cx="4200525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180"/>
                </a:solidFill>
                <a:latin typeface="Plus Jakarta Sans"/>
              </a:rPr>
              <a:t>Automated detection of performance bottlenecks, missing error handles, and DB optimization hints.</a:t>
            </a:r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04837" y="2844105"/>
            <a:ext cx="104775" cy="11430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904875" y="2767905"/>
            <a:ext cx="404050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A192F"/>
                </a:solidFill>
                <a:latin typeface="Plus Jakarta Sans"/>
              </a:rPr>
              <a:t>ATC &amp; Compliance Integration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4875" y="2920305"/>
            <a:ext cx="384810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180"/>
                </a:solidFill>
                <a:latin typeface="Plus Jakarta Sans"/>
              </a:rPr>
              <a:t>Instant visibility into static check severity and line-item error references.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77125" y="1352550"/>
            <a:ext cx="4105275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750" i="0" u="none">
                <a:solidFill>
                  <a:srgbClr val="64748B"/>
                </a:solidFill>
                <a:latin typeface="Fira Code"/>
              </a:rPr>
              <a:t>METHOD process_order.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77125" y="1533525"/>
            <a:ext cx="4105275" cy="10054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20"/>
              </a:lnSpc>
            </a:pPr>
            <a:r>
              <a:rPr b="0" sz="825" i="0" u="none">
                <a:solidFill>
                  <a:srgbClr val="38BDF8"/>
                </a:solidFill>
                <a:latin typeface="Fira Code"/>
              </a:rPr>
              <a:t>SELECT SINGLE</a:t>
            </a:r>
            <a:r>
              <a:rPr b="0" sz="825" i="0" u="none">
                <a:solidFill>
                  <a:srgbClr val="F8FAFC"/>
                </a:solidFill>
                <a:latin typeface="Fira Code"/>
              </a:rPr>
              <a:t> * </a:t>
            </a:r>
            <a:r>
              <a:rPr b="0" sz="825" i="0" u="none">
                <a:solidFill>
                  <a:srgbClr val="38BDF8"/>
                </a:solidFill>
                <a:latin typeface="Fira Code"/>
              </a:rPr>
              <a:t>FROM</a:t>
            </a:r>
            <a:r>
              <a:rPr b="0" sz="825" i="0" u="none">
                <a:solidFill>
                  <a:srgbClr val="F8FAFC"/>
                </a:solidFill>
                <a:latin typeface="Fira Code"/>
              </a:rPr>
              <a:t> vbak</a:t>
            </a:r>
            <a:r>
              <a:t>
</a:t>
            </a:r>
            <a:r>
              <a:rPr b="0" sz="825" i="0" u="none">
                <a:solidFill>
                  <a:srgbClr val="F8FAFC"/>
                </a:solidFill>
                <a:latin typeface="Fira Code"/>
              </a:rPr>
              <a:t>   </a:t>
            </a:r>
            <a:r>
              <a:rPr b="0" sz="825" i="0" u="none">
                <a:solidFill>
                  <a:srgbClr val="38BDF8"/>
                </a:solidFill>
                <a:latin typeface="Fira Code"/>
              </a:rPr>
              <a:t>INTO</a:t>
            </a:r>
            <a:r>
              <a:rPr b="0" sz="825" i="0" u="none">
                <a:solidFill>
                  <a:srgbClr val="F8FAFC"/>
                </a:solidFill>
                <a:latin typeface="Fira Code"/>
              </a:rPr>
              <a:t> @</a:t>
            </a:r>
            <a:r>
              <a:rPr b="0" sz="825" i="0" u="none">
                <a:solidFill>
                  <a:srgbClr val="F472B6"/>
                </a:solidFill>
                <a:latin typeface="Fira Code"/>
              </a:rPr>
              <a:t>DATA</a:t>
            </a:r>
            <a:r>
              <a:rPr b="0" sz="825" i="0" u="none">
                <a:solidFill>
                  <a:srgbClr val="F8FAFC"/>
                </a:solidFill>
                <a:latin typeface="Fira Code"/>
              </a:rPr>
              <a:t>(ls_order)</a:t>
            </a:r>
            <a:r>
              <a:t>
</a:t>
            </a:r>
            <a:r>
              <a:rPr b="0" sz="825" i="0" u="none">
                <a:solidFill>
                  <a:srgbClr val="F8FAFC"/>
                </a:solidFill>
                <a:latin typeface="Fira Code"/>
              </a:rPr>
              <a:t>   </a:t>
            </a:r>
            <a:r>
              <a:rPr b="0" sz="825" i="0" u="none">
                <a:solidFill>
                  <a:srgbClr val="38BDF8"/>
                </a:solidFill>
                <a:latin typeface="Fira Code"/>
              </a:rPr>
              <a:t>WHERE</a:t>
            </a:r>
            <a:r>
              <a:rPr b="0" sz="825" i="0" u="none">
                <a:solidFill>
                  <a:srgbClr val="F8FAFC"/>
                </a:solidFill>
                <a:latin typeface="Fira Code"/>
              </a:rPr>
              <a:t> vbeln = @iv_vbeln.</a:t>
            </a:r>
            <a:r>
              <a:t>
</a:t>
            </a:r>
            <a:r>
              <a:rPr b="0" sz="825" i="0" u="none">
                <a:solidFill>
                  <a:srgbClr val="38BDF8"/>
                </a:solidFill>
                <a:latin typeface="Fira Code"/>
              </a:rPr>
              <a:t>IF</a:t>
            </a:r>
            <a:r>
              <a:rPr b="0" sz="825" i="0" u="none">
                <a:solidFill>
                  <a:srgbClr val="F8FAFC"/>
                </a:solidFill>
                <a:latin typeface="Fira Code"/>
              </a:rPr>
              <a:t> sy-subrc = 0.</a:t>
            </a:r>
            <a:r>
              <a:t>
</a:t>
            </a:r>
            <a:r>
              <a:rPr b="0" sz="825" i="0" u="none">
                <a:solidFill>
                  <a:srgbClr val="F8FAFC"/>
                </a:solidFill>
                <a:latin typeface="Fira Code"/>
              </a:rPr>
              <a:t>   rv_status = </a:t>
            </a:r>
            <a:r>
              <a:rPr b="0" sz="825" i="0" u="none">
                <a:solidFill>
                  <a:srgbClr val="4ADE80"/>
                </a:solidFill>
                <a:latin typeface="Fira Code"/>
              </a:rPr>
              <a:t>'SUCCESS'</a:t>
            </a:r>
            <a:r>
              <a:rPr b="0" sz="825" i="0" u="none">
                <a:solidFill>
                  <a:srgbClr val="F8FAFC"/>
                </a:solidFill>
                <a:latin typeface="Fira Code"/>
              </a:rPr>
              <a:t>.</a:t>
            </a:r>
            <a:r>
              <a:t>
</a:t>
            </a:r>
            <a:r>
              <a:rPr b="0" sz="825" i="0" u="none">
                <a:solidFill>
                  <a:srgbClr val="38BDF8"/>
                </a:solidFill>
                <a:latin typeface="Fira Code"/>
              </a:rPr>
              <a:t>ENDIF.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77125" y="2900957"/>
            <a:ext cx="4105275" cy="133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200" i="0" u="none">
                <a:solidFill>
                  <a:srgbClr val="F43F5E"/>
                </a:solidFill>
                <a:latin typeface="Plus Jakarta Sans"/>
              </a:rPr>
              <a:t>MEDIUM SEVERITY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77125" y="3091457"/>
            <a:ext cx="4105275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F8FAFC"/>
                </a:solidFill>
                <a:latin typeface="Plus Jakarta Sans"/>
              </a:rPr>
              <a:t>Database access can be narrowed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77125" y="3253382"/>
            <a:ext cx="4105275" cy="2797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02"/>
              </a:lnSpc>
            </a:pPr>
            <a:r>
              <a:rPr b="0" sz="787" i="0" u="none">
                <a:solidFill>
                  <a:srgbClr val="94A3B8"/>
                </a:solidFill>
                <a:latin typeface="Plus Jakarta Sans"/>
              </a:rPr>
              <a:t>Recommendation: Validate selection criteria and specify target fields instead of SELECT * to optimize HANA memory.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76900" y="1143000"/>
            <a:ext cx="228600" cy="104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675" i="0" u="none">
                <a:solidFill>
                  <a:srgbClr val="F87171"/>
                </a:solidFill>
                <a:latin typeface="Plus Jakarta Sans"/>
              </a:rPr>
              <a:t>CLAS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76900" y="1247775"/>
            <a:ext cx="1343025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750" i="0" u="none">
                <a:solidFill>
                  <a:srgbClr val="FFFFFF"/>
                </a:solidFill>
                <a:latin typeface="Fira Code SemiBold"/>
              </a:rPr>
              <a:t>ZCL_ORDER_PROC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67375" y="1609725"/>
            <a:ext cx="257175" cy="104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675" i="0" u="none">
                <a:solidFill>
                  <a:srgbClr val="38BDF8"/>
                </a:solidFill>
                <a:latin typeface="Plus Jakarta Sans"/>
              </a:rPr>
              <a:t>PROG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67375" y="1714500"/>
            <a:ext cx="1362075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750" i="0" u="none">
                <a:solidFill>
                  <a:srgbClr val="CBD5E1"/>
                </a:solidFill>
                <a:latin typeface="Fira Code"/>
              </a:rPr>
              <a:t>ZSD_ORDER_REP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667375" y="2066925"/>
            <a:ext cx="238125" cy="104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675" i="0" u="none">
                <a:solidFill>
                  <a:srgbClr val="38BDF8"/>
                </a:solidFill>
                <a:latin typeface="Plus Jakarta Sans"/>
              </a:rPr>
              <a:t>DDLS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67375" y="2171700"/>
            <a:ext cx="1362075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750" i="0" u="none">
                <a:solidFill>
                  <a:srgbClr val="CBD5E1"/>
                </a:solidFill>
                <a:latin typeface="Fira Code"/>
              </a:rPr>
              <a:t>ZDDL_ORDER</a:t>
            </a:r>
          </a:p>
        </p:txBody>
      </p:sp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477125" y="2900957"/>
            <a:ext cx="561975" cy="1333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